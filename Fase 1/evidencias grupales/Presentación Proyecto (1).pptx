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Anton"/>
      <p:regular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h8y1tndYQDvEFNquyl+K84VuH+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nton-regular.fntdata"/><Relationship Id="rId22" Type="http://schemas.openxmlformats.org/officeDocument/2006/relationships/font" Target="fonts/OpenSans-bold.fntdata"/><Relationship Id="rId21" Type="http://schemas.openxmlformats.org/officeDocument/2006/relationships/font" Target="fonts/OpenSans-regular.fntdata"/><Relationship Id="rId24" Type="http://schemas.openxmlformats.org/officeDocument/2006/relationships/font" Target="fonts/OpenSans-boldItalic.fntdata"/><Relationship Id="rId23"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Contexto:</a:t>
            </a:r>
            <a:r>
              <a:rPr lang="en-US">
                <a:solidFill>
                  <a:schemeClr val="dk1"/>
                </a:solidFill>
              </a:rPr>
              <a:t> Las sucursales de la ACHS cuentan con múltiples equipos de climatización (Split, VRV, Chiller) que requieren mantenimientos preventivos constantes para asegurar la atención médica y administrativa.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dn-icons-png.flaticon.com/512/17008/17008714.png"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83" name="Shape 83"/>
        <p:cNvGrpSpPr/>
        <p:nvPr/>
      </p:nvGrpSpPr>
      <p:grpSpPr>
        <a:xfrm>
          <a:off x="0" y="0"/>
          <a:ext cx="0" cy="0"/>
          <a:chOff x="0" y="0"/>
          <a:chExt cx="0" cy="0"/>
        </a:xfrm>
      </p:grpSpPr>
      <p:grpSp>
        <p:nvGrpSpPr>
          <p:cNvPr id="84" name="Google Shape;84;p1"/>
          <p:cNvGrpSpPr/>
          <p:nvPr/>
        </p:nvGrpSpPr>
        <p:grpSpPr>
          <a:xfrm>
            <a:off x="499187" y="895970"/>
            <a:ext cx="17229641" cy="8525164"/>
            <a:chOff x="0" y="0"/>
            <a:chExt cx="4537818" cy="2245296"/>
          </a:xfrm>
        </p:grpSpPr>
        <p:sp>
          <p:nvSpPr>
            <p:cNvPr id="85" name="Google Shape;85;p1"/>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86" name="Google Shape;86;p1"/>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1662754" y="-1649917"/>
            <a:ext cx="3086100" cy="2889115"/>
            <a:chOff x="0" y="0"/>
            <a:chExt cx="596900" cy="558800"/>
          </a:xfrm>
        </p:grpSpPr>
        <p:sp>
          <p:nvSpPr>
            <p:cNvPr id="88" name="Google Shape;88;p1"/>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89" name="Google Shape;89;p1"/>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 name="Google Shape;90;p1"/>
          <p:cNvSpPr txBox="1"/>
          <p:nvPr/>
        </p:nvSpPr>
        <p:spPr>
          <a:xfrm>
            <a:off x="2002126" y="4623755"/>
            <a:ext cx="7322400" cy="1308300"/>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lang="en-US" sz="8499">
                <a:solidFill>
                  <a:srgbClr val="2E2C2D"/>
                </a:solidFill>
                <a:latin typeface="Anton"/>
                <a:ea typeface="Anton"/>
                <a:cs typeface="Anton"/>
                <a:sym typeface="Anton"/>
              </a:rPr>
              <a:t>HVACKTRACK</a:t>
            </a:r>
            <a:endParaRPr/>
          </a:p>
        </p:txBody>
      </p:sp>
      <p:grpSp>
        <p:nvGrpSpPr>
          <p:cNvPr id="91" name="Google Shape;91;p1"/>
          <p:cNvGrpSpPr/>
          <p:nvPr/>
        </p:nvGrpSpPr>
        <p:grpSpPr>
          <a:xfrm>
            <a:off x="16895199" y="9049953"/>
            <a:ext cx="3086100" cy="2889115"/>
            <a:chOff x="0" y="0"/>
            <a:chExt cx="596900" cy="558800"/>
          </a:xfrm>
        </p:grpSpPr>
        <p:sp>
          <p:nvSpPr>
            <p:cNvPr id="92" name="Google Shape;92;p1"/>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93" name="Google Shape;93;p1"/>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 name="Google Shape;94;p1"/>
          <p:cNvSpPr txBox="1"/>
          <p:nvPr/>
        </p:nvSpPr>
        <p:spPr>
          <a:xfrm>
            <a:off x="1485900" y="5932050"/>
            <a:ext cx="6172200" cy="88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00">
                <a:solidFill>
                  <a:srgbClr val="2E2C2D"/>
                </a:solidFill>
                <a:latin typeface="Open Sans"/>
                <a:ea typeface="Open Sans"/>
                <a:cs typeface="Open Sans"/>
                <a:sym typeface="Open Sans"/>
              </a:rPr>
              <a:t>Sistema de </a:t>
            </a:r>
            <a:r>
              <a:rPr lang="en-US" sz="2400">
                <a:solidFill>
                  <a:srgbClr val="2E2C2D"/>
                </a:solidFill>
                <a:latin typeface="Open Sans"/>
                <a:ea typeface="Open Sans"/>
                <a:cs typeface="Open Sans"/>
                <a:sym typeface="Open Sans"/>
              </a:rPr>
              <a:t>gestión</a:t>
            </a:r>
            <a:r>
              <a:rPr lang="en-US" sz="2400">
                <a:solidFill>
                  <a:srgbClr val="2E2C2D"/>
                </a:solidFill>
                <a:latin typeface="Open Sans"/>
                <a:ea typeface="Open Sans"/>
                <a:cs typeface="Open Sans"/>
                <a:sym typeface="Open Sans"/>
              </a:rPr>
              <a:t>, trazabilidad para </a:t>
            </a:r>
            <a:r>
              <a:rPr lang="en-US" sz="2400">
                <a:solidFill>
                  <a:srgbClr val="2E2C2D"/>
                </a:solidFill>
                <a:latin typeface="Open Sans"/>
                <a:ea typeface="Open Sans"/>
                <a:cs typeface="Open Sans"/>
                <a:sym typeface="Open Sans"/>
              </a:rPr>
              <a:t>climatización.</a:t>
            </a:r>
            <a:endParaRPr/>
          </a:p>
        </p:txBody>
      </p:sp>
      <p:pic>
        <p:nvPicPr>
          <p:cNvPr id="95" name="Google Shape;95;p1" title="Captura.PNG"/>
          <p:cNvPicPr preferRelativeResize="0"/>
          <p:nvPr/>
        </p:nvPicPr>
        <p:blipFill>
          <a:blip r:embed="rId3">
            <a:alphaModFix/>
          </a:blip>
          <a:stretch>
            <a:fillRect/>
          </a:stretch>
        </p:blipFill>
        <p:spPr>
          <a:xfrm>
            <a:off x="9324525" y="3698937"/>
            <a:ext cx="7471822" cy="2889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99" name="Shape 99"/>
        <p:cNvGrpSpPr/>
        <p:nvPr/>
      </p:nvGrpSpPr>
      <p:grpSpPr>
        <a:xfrm>
          <a:off x="0" y="0"/>
          <a:ext cx="0" cy="0"/>
          <a:chOff x="0" y="0"/>
          <a:chExt cx="0" cy="0"/>
        </a:xfrm>
      </p:grpSpPr>
      <p:grpSp>
        <p:nvGrpSpPr>
          <p:cNvPr id="100" name="Google Shape;100;p2"/>
          <p:cNvGrpSpPr/>
          <p:nvPr/>
        </p:nvGrpSpPr>
        <p:grpSpPr>
          <a:xfrm>
            <a:off x="389005" y="1028700"/>
            <a:ext cx="17229526" cy="8525109"/>
            <a:chOff x="0" y="0"/>
            <a:chExt cx="4537818" cy="2245296"/>
          </a:xfrm>
        </p:grpSpPr>
        <p:sp>
          <p:nvSpPr>
            <p:cNvPr id="101" name="Google Shape;101;p2"/>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02" name="Google Shape;102;p2"/>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 name="Google Shape;103;p2"/>
          <p:cNvGrpSpPr/>
          <p:nvPr/>
        </p:nvGrpSpPr>
        <p:grpSpPr>
          <a:xfrm>
            <a:off x="-1662754" y="-1649917"/>
            <a:ext cx="3086100" cy="2889115"/>
            <a:chOff x="0" y="0"/>
            <a:chExt cx="596900" cy="558800"/>
          </a:xfrm>
        </p:grpSpPr>
        <p:sp>
          <p:nvSpPr>
            <p:cNvPr id="104" name="Google Shape;104;p2"/>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05" name="Google Shape;105;p2"/>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2"/>
          <p:cNvGrpSpPr/>
          <p:nvPr/>
        </p:nvGrpSpPr>
        <p:grpSpPr>
          <a:xfrm>
            <a:off x="16895199" y="9049953"/>
            <a:ext cx="3086100" cy="2889115"/>
            <a:chOff x="0" y="0"/>
            <a:chExt cx="596900" cy="558800"/>
          </a:xfrm>
        </p:grpSpPr>
        <p:sp>
          <p:nvSpPr>
            <p:cNvPr id="107" name="Google Shape;107;p2"/>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08" name="Google Shape;108;p2"/>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 name="Google Shape;109;p2"/>
          <p:cNvSpPr txBox="1"/>
          <p:nvPr/>
        </p:nvSpPr>
        <p:spPr>
          <a:xfrm>
            <a:off x="6564627" y="1733637"/>
            <a:ext cx="5158800" cy="1308300"/>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Integrante</a:t>
            </a:r>
            <a:endParaRPr/>
          </a:p>
        </p:txBody>
      </p:sp>
      <p:sp>
        <p:nvSpPr>
          <p:cNvPr id="110" name="Google Shape;110;p2"/>
          <p:cNvSpPr/>
          <p:nvPr/>
        </p:nvSpPr>
        <p:spPr>
          <a:xfrm>
            <a:off x="7248883" y="4227776"/>
            <a:ext cx="1021485" cy="985732"/>
          </a:xfrm>
          <a:custGeom>
            <a:rect b="b" l="l" r="r" t="t"/>
            <a:pathLst>
              <a:path extrusionOk="0" h="1314310" w="1361980">
                <a:moveTo>
                  <a:pt x="0" y="0"/>
                </a:moveTo>
                <a:lnTo>
                  <a:pt x="1361980" y="0"/>
                </a:lnTo>
                <a:lnTo>
                  <a:pt x="1361980" y="1314310"/>
                </a:lnTo>
                <a:lnTo>
                  <a:pt x="0" y="1314310"/>
                </a:lnTo>
                <a:lnTo>
                  <a:pt x="0" y="0"/>
                </a:lnTo>
                <a:close/>
              </a:path>
            </a:pathLst>
          </a:custGeom>
          <a:blipFill rotWithShape="1">
            <a:blip r:embed="rId3">
              <a:alphaModFix/>
            </a:blip>
            <a:stretch>
              <a:fillRect b="0" l="0" r="0" t="0"/>
            </a:stretch>
          </a:blipFill>
          <a:ln>
            <a:noFill/>
          </a:ln>
        </p:spPr>
      </p:sp>
      <p:grpSp>
        <p:nvGrpSpPr>
          <p:cNvPr id="111" name="Google Shape;111;p2"/>
          <p:cNvGrpSpPr/>
          <p:nvPr/>
        </p:nvGrpSpPr>
        <p:grpSpPr>
          <a:xfrm>
            <a:off x="6500423" y="4227764"/>
            <a:ext cx="5158800" cy="4784249"/>
            <a:chOff x="0" y="0"/>
            <a:chExt cx="6878400" cy="6378998"/>
          </a:xfrm>
        </p:grpSpPr>
        <p:sp>
          <p:nvSpPr>
            <p:cNvPr id="112" name="Google Shape;112;p2"/>
            <p:cNvSpPr/>
            <p:nvPr/>
          </p:nvSpPr>
          <p:spPr>
            <a:xfrm>
              <a:off x="2678411" y="0"/>
              <a:ext cx="1346606" cy="1146298"/>
            </a:xfrm>
            <a:custGeom>
              <a:rect b="b" l="l" r="r" t="t"/>
              <a:pathLst>
                <a:path extrusionOk="0" h="1146298" w="1346606">
                  <a:moveTo>
                    <a:pt x="0" y="0"/>
                  </a:moveTo>
                  <a:lnTo>
                    <a:pt x="1346606" y="0"/>
                  </a:lnTo>
                  <a:lnTo>
                    <a:pt x="1346606" y="1146298"/>
                  </a:lnTo>
                  <a:lnTo>
                    <a:pt x="0" y="1146298"/>
                  </a:lnTo>
                  <a:lnTo>
                    <a:pt x="0" y="0"/>
                  </a:lnTo>
                  <a:close/>
                </a:path>
              </a:pathLst>
            </a:custGeom>
            <a:blipFill rotWithShape="1">
              <a:blip r:embed="rId4">
                <a:alphaModFix/>
              </a:blip>
              <a:stretch>
                <a:fillRect b="0" l="0" r="0" t="0"/>
              </a:stretch>
            </a:blipFill>
            <a:ln>
              <a:noFill/>
            </a:ln>
          </p:spPr>
        </p:sp>
        <p:sp>
          <p:nvSpPr>
            <p:cNvPr id="113" name="Google Shape;113;p2"/>
            <p:cNvSpPr txBox="1"/>
            <p:nvPr/>
          </p:nvSpPr>
          <p:spPr>
            <a:xfrm>
              <a:off x="0" y="1535798"/>
              <a:ext cx="6878400" cy="4843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700">
                  <a:solidFill>
                    <a:srgbClr val="2E2C2D"/>
                  </a:solidFill>
                  <a:latin typeface="Open Sans"/>
                  <a:ea typeface="Open Sans"/>
                  <a:cs typeface="Open Sans"/>
                  <a:sym typeface="Open Sans"/>
                </a:rPr>
                <a:t>Pablo Ignacio Campos</a:t>
              </a:r>
              <a:endParaRPr/>
            </a:p>
            <a:p>
              <a:pPr indent="0" lvl="0" marL="0" marR="0" rtl="0" algn="ctr">
                <a:lnSpc>
                  <a:spcPct val="89340"/>
                </a:lnSpc>
                <a:spcBef>
                  <a:spcPts val="0"/>
                </a:spcBef>
                <a:spcAft>
                  <a:spcPts val="0"/>
                </a:spcAft>
                <a:buNone/>
              </a:pPr>
              <a:r>
                <a:t/>
              </a:r>
              <a:endParaRPr b="1" i="0" sz="4700" u="none" cap="none" strike="noStrike">
                <a:solidFill>
                  <a:srgbClr val="2E2C2D"/>
                </a:solidFill>
                <a:latin typeface="Open Sans"/>
                <a:ea typeface="Open Sans"/>
                <a:cs typeface="Open Sans"/>
                <a:sym typeface="Open Sans"/>
              </a:endParaRPr>
            </a:p>
            <a:p>
              <a:pPr indent="0" lvl="0" marL="0" marR="0" rtl="0" algn="ctr">
                <a:lnSpc>
                  <a:spcPct val="140000"/>
                </a:lnSpc>
                <a:spcBef>
                  <a:spcPts val="0"/>
                </a:spcBef>
                <a:spcAft>
                  <a:spcPts val="0"/>
                </a:spcAft>
                <a:buNone/>
              </a:pPr>
              <a:r>
                <a:rPr b="1" lang="en-US" sz="2600">
                  <a:solidFill>
                    <a:srgbClr val="2E2C2D"/>
                  </a:solidFill>
                  <a:latin typeface="Open Sans"/>
                  <a:ea typeface="Open Sans"/>
                  <a:cs typeface="Open Sans"/>
                  <a:sym typeface="Open Sans"/>
                </a:rPr>
                <a:t>Lider de proyecto, desarrollador full stack y QA</a:t>
              </a:r>
              <a:endParaRPr/>
            </a:p>
          </p:txBody>
        </p:sp>
      </p:grpSp>
      <p:sp>
        <p:nvSpPr>
          <p:cNvPr id="114" name="Google Shape;114;p2"/>
          <p:cNvSpPr/>
          <p:nvPr/>
        </p:nvSpPr>
        <p:spPr>
          <a:xfrm>
            <a:off x="9840564" y="4219427"/>
            <a:ext cx="998649" cy="1002408"/>
          </a:xfrm>
          <a:custGeom>
            <a:rect b="b" l="l" r="r" t="t"/>
            <a:pathLst>
              <a:path extrusionOk="0" h="1336544" w="1331532">
                <a:moveTo>
                  <a:pt x="0" y="0"/>
                </a:moveTo>
                <a:lnTo>
                  <a:pt x="1331532" y="0"/>
                </a:lnTo>
                <a:lnTo>
                  <a:pt x="1331532" y="1336544"/>
                </a:lnTo>
                <a:lnTo>
                  <a:pt x="0" y="133654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118" name="Shape 118"/>
        <p:cNvGrpSpPr/>
        <p:nvPr/>
      </p:nvGrpSpPr>
      <p:grpSpPr>
        <a:xfrm>
          <a:off x="0" y="0"/>
          <a:ext cx="0" cy="0"/>
          <a:chOff x="0" y="0"/>
          <a:chExt cx="0" cy="0"/>
        </a:xfrm>
      </p:grpSpPr>
      <p:grpSp>
        <p:nvGrpSpPr>
          <p:cNvPr id="119" name="Google Shape;119;p3"/>
          <p:cNvGrpSpPr/>
          <p:nvPr/>
        </p:nvGrpSpPr>
        <p:grpSpPr>
          <a:xfrm>
            <a:off x="-1662754" y="-1649917"/>
            <a:ext cx="3086100" cy="2889115"/>
            <a:chOff x="0" y="0"/>
            <a:chExt cx="596900" cy="558800"/>
          </a:xfrm>
        </p:grpSpPr>
        <p:sp>
          <p:nvSpPr>
            <p:cNvPr id="120" name="Google Shape;120;p3"/>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21" name="Google Shape;121;p3"/>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3"/>
          <p:cNvGrpSpPr/>
          <p:nvPr/>
        </p:nvGrpSpPr>
        <p:grpSpPr>
          <a:xfrm>
            <a:off x="16895199" y="9049953"/>
            <a:ext cx="3086100" cy="2889115"/>
            <a:chOff x="0" y="0"/>
            <a:chExt cx="596900" cy="558800"/>
          </a:xfrm>
        </p:grpSpPr>
        <p:sp>
          <p:nvSpPr>
            <p:cNvPr id="123" name="Google Shape;123;p3"/>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24" name="Google Shape;124;p3"/>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 name="Google Shape;125;p3"/>
          <p:cNvGrpSpPr/>
          <p:nvPr/>
        </p:nvGrpSpPr>
        <p:grpSpPr>
          <a:xfrm>
            <a:off x="286714" y="1028700"/>
            <a:ext cx="17229641" cy="8525654"/>
            <a:chOff x="0" y="0"/>
            <a:chExt cx="4537818" cy="2245425"/>
          </a:xfrm>
        </p:grpSpPr>
        <p:sp>
          <p:nvSpPr>
            <p:cNvPr id="126" name="Google Shape;126;p3"/>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27" name="Google Shape;127;p3"/>
            <p:cNvSpPr txBox="1"/>
            <p:nvPr/>
          </p:nvSpPr>
          <p:spPr>
            <a:xfrm>
              <a:off x="0" y="47625"/>
              <a:ext cx="4537800" cy="2197800"/>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3"/>
          <p:cNvSpPr/>
          <p:nvPr/>
        </p:nvSpPr>
        <p:spPr>
          <a:xfrm>
            <a:off x="8070208" y="6965143"/>
            <a:ext cx="1662539" cy="2293157"/>
          </a:xfrm>
          <a:custGeom>
            <a:rect b="b" l="l" r="r" t="t"/>
            <a:pathLst>
              <a:path extrusionOk="0" h="2293157" w="1662539">
                <a:moveTo>
                  <a:pt x="0" y="0"/>
                </a:moveTo>
                <a:lnTo>
                  <a:pt x="1662539" y="0"/>
                </a:lnTo>
                <a:lnTo>
                  <a:pt x="1662539" y="2293157"/>
                </a:lnTo>
                <a:lnTo>
                  <a:pt x="0" y="2293157"/>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6564627" y="1733637"/>
            <a:ext cx="5158746"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Contexto</a:t>
            </a:r>
            <a:endParaRPr/>
          </a:p>
        </p:txBody>
      </p:sp>
      <p:sp>
        <p:nvSpPr>
          <p:cNvPr id="130" name="Google Shape;130;p3"/>
          <p:cNvSpPr txBox="1"/>
          <p:nvPr/>
        </p:nvSpPr>
        <p:spPr>
          <a:xfrm>
            <a:off x="692816" y="3217980"/>
            <a:ext cx="5158800" cy="887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E2C2D"/>
                </a:solidFill>
                <a:latin typeface="Open Sans"/>
                <a:ea typeface="Open Sans"/>
                <a:cs typeface="Open Sans"/>
                <a:sym typeface="Open Sans"/>
              </a:rPr>
              <a:t>Problema</a:t>
            </a:r>
            <a:endParaRPr/>
          </a:p>
        </p:txBody>
      </p:sp>
      <p:sp>
        <p:nvSpPr>
          <p:cNvPr id="131" name="Google Shape;131;p3"/>
          <p:cNvSpPr txBox="1"/>
          <p:nvPr/>
        </p:nvSpPr>
        <p:spPr>
          <a:xfrm>
            <a:off x="10340642" y="3217980"/>
            <a:ext cx="5158800" cy="1492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E2C2D"/>
                </a:solidFill>
                <a:latin typeface="Open Sans"/>
                <a:ea typeface="Open Sans"/>
                <a:cs typeface="Open Sans"/>
                <a:sym typeface="Open Sans"/>
              </a:rPr>
              <a:t>Justificación</a:t>
            </a:r>
            <a:endParaRPr/>
          </a:p>
          <a:p>
            <a:pPr indent="0" lvl="0" marL="0" marR="0" rtl="0" algn="ctr">
              <a:lnSpc>
                <a:spcPct val="88863"/>
              </a:lnSpc>
              <a:spcBef>
                <a:spcPts val="0"/>
              </a:spcBef>
              <a:spcAft>
                <a:spcPts val="0"/>
              </a:spcAft>
              <a:buNone/>
            </a:pPr>
            <a:r>
              <a:t/>
            </a:r>
            <a:endParaRPr b="1" i="0" sz="5199" u="none" cap="none" strike="noStrike">
              <a:solidFill>
                <a:srgbClr val="2E2C2D"/>
              </a:solidFill>
              <a:latin typeface="Open Sans"/>
              <a:ea typeface="Open Sans"/>
              <a:cs typeface="Open Sans"/>
              <a:sym typeface="Open Sans"/>
            </a:endParaRPr>
          </a:p>
        </p:txBody>
      </p:sp>
      <p:sp>
        <p:nvSpPr>
          <p:cNvPr id="132" name="Google Shape;132;p3"/>
          <p:cNvSpPr txBox="1"/>
          <p:nvPr/>
        </p:nvSpPr>
        <p:spPr>
          <a:xfrm>
            <a:off x="10499818" y="4516869"/>
            <a:ext cx="6759600" cy="44088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i="1" lang="en-US" sz="3047">
                <a:solidFill>
                  <a:srgbClr val="2E2C2D"/>
                </a:solidFill>
                <a:latin typeface="Open Sans"/>
                <a:ea typeface="Open Sans"/>
                <a:cs typeface="Open Sans"/>
                <a:sym typeface="Open Sans"/>
              </a:rPr>
              <a:t>Un control digitalizado mediante código QR optimiza el tiempo de la cuadrilla en terreno, garantiza la continuidad operacional de las salas clínicas y entrega información transparente en tiempo real a la administración. </a:t>
            </a:r>
            <a:endParaRPr/>
          </a:p>
        </p:txBody>
      </p:sp>
      <p:sp>
        <p:nvSpPr>
          <p:cNvPr id="133" name="Google Shape;133;p3"/>
          <p:cNvSpPr txBox="1"/>
          <p:nvPr/>
        </p:nvSpPr>
        <p:spPr>
          <a:xfrm>
            <a:off x="1423346" y="4516869"/>
            <a:ext cx="5757600" cy="37521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i="1" lang="en-US" sz="3047">
                <a:solidFill>
                  <a:srgbClr val="2E2C2D"/>
                </a:solidFill>
                <a:latin typeface="Open Sans"/>
                <a:ea typeface="Open Sans"/>
                <a:cs typeface="Open Sans"/>
                <a:sym typeface="Open Sans"/>
              </a:rPr>
              <a:t>Pérdida de tiempo en terreno buscando equipos, falta de trazabilidad en el historial de fallas, pautas en papel que se traspapelan y registros manuales propensos a errores. </a:t>
            </a:r>
            <a:endParaRPr b="0" i="1" sz="3047" u="none" cap="none" strike="noStrike">
              <a:solidFill>
                <a:srgbClr val="2E2C2D"/>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137" name="Shape 137"/>
        <p:cNvGrpSpPr/>
        <p:nvPr/>
      </p:nvGrpSpPr>
      <p:grpSpPr>
        <a:xfrm>
          <a:off x="0" y="0"/>
          <a:ext cx="0" cy="0"/>
          <a:chOff x="0" y="0"/>
          <a:chExt cx="0" cy="0"/>
        </a:xfrm>
      </p:grpSpPr>
      <p:grpSp>
        <p:nvGrpSpPr>
          <p:cNvPr id="138" name="Google Shape;138;p4"/>
          <p:cNvGrpSpPr/>
          <p:nvPr/>
        </p:nvGrpSpPr>
        <p:grpSpPr>
          <a:xfrm>
            <a:off x="389005" y="1028700"/>
            <a:ext cx="17229526" cy="8525109"/>
            <a:chOff x="0" y="0"/>
            <a:chExt cx="4537818" cy="2245296"/>
          </a:xfrm>
        </p:grpSpPr>
        <p:sp>
          <p:nvSpPr>
            <p:cNvPr id="139" name="Google Shape;139;p4"/>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40" name="Google Shape;140;p4"/>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 name="Google Shape;141;p4"/>
          <p:cNvGrpSpPr/>
          <p:nvPr/>
        </p:nvGrpSpPr>
        <p:grpSpPr>
          <a:xfrm>
            <a:off x="-1662754" y="-1649917"/>
            <a:ext cx="3086100" cy="2889115"/>
            <a:chOff x="0" y="0"/>
            <a:chExt cx="596900" cy="558800"/>
          </a:xfrm>
        </p:grpSpPr>
        <p:sp>
          <p:nvSpPr>
            <p:cNvPr id="142" name="Google Shape;142;p4"/>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43" name="Google Shape;143;p4"/>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4"/>
          <p:cNvSpPr txBox="1"/>
          <p:nvPr/>
        </p:nvSpPr>
        <p:spPr>
          <a:xfrm>
            <a:off x="5342603" y="1743653"/>
            <a:ext cx="7602794"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Objetivo General</a:t>
            </a:r>
            <a:endParaRPr/>
          </a:p>
        </p:txBody>
      </p:sp>
      <p:grpSp>
        <p:nvGrpSpPr>
          <p:cNvPr id="145" name="Google Shape;145;p4"/>
          <p:cNvGrpSpPr/>
          <p:nvPr/>
        </p:nvGrpSpPr>
        <p:grpSpPr>
          <a:xfrm>
            <a:off x="16895199" y="9049953"/>
            <a:ext cx="3086100" cy="2889115"/>
            <a:chOff x="0" y="0"/>
            <a:chExt cx="596900" cy="558800"/>
          </a:xfrm>
        </p:grpSpPr>
        <p:sp>
          <p:nvSpPr>
            <p:cNvPr id="146" name="Google Shape;146;p4"/>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47" name="Google Shape;147;p4"/>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8" name="Google Shape;148;p4"/>
          <p:cNvSpPr txBox="1"/>
          <p:nvPr/>
        </p:nvSpPr>
        <p:spPr>
          <a:xfrm>
            <a:off x="2421556" y="4159083"/>
            <a:ext cx="13444800" cy="2190300"/>
          </a:xfrm>
          <a:prstGeom prst="rect">
            <a:avLst/>
          </a:prstGeom>
          <a:noFill/>
          <a:ln>
            <a:noFill/>
          </a:ln>
        </p:spPr>
        <p:txBody>
          <a:bodyPr anchorCtr="0" anchor="t" bIns="0" lIns="0" spcFirstLastPara="1" rIns="0" wrap="square" tIns="0">
            <a:spAutoFit/>
          </a:bodyPr>
          <a:lstStyle/>
          <a:p>
            <a:pPr indent="0" lvl="0" marL="0" marR="0" rtl="0" algn="just">
              <a:lnSpc>
                <a:spcPct val="140021"/>
              </a:lnSpc>
              <a:spcBef>
                <a:spcPts val="0"/>
              </a:spcBef>
              <a:spcAft>
                <a:spcPts val="0"/>
              </a:spcAft>
              <a:buNone/>
            </a:pPr>
            <a:r>
              <a:rPr i="1" lang="en-US" sz="2736">
                <a:solidFill>
                  <a:srgbClr val="2E2C2D"/>
                </a:solidFill>
                <a:latin typeface="Open Sans"/>
                <a:ea typeface="Open Sans"/>
                <a:cs typeface="Open Sans"/>
                <a:sym typeface="Open Sans"/>
              </a:rPr>
              <a:t>Desarrollar una solución web y móvil para el control de mantenimiento de equipos de climatización en sucursales de la ACHS, que permita la identificación de activos mediante códigos QR, el registro de lecturas técnicas en terreno y la visualización centralizada del estado de las instalaciones.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152" name="Shape 152"/>
        <p:cNvGrpSpPr/>
        <p:nvPr/>
      </p:nvGrpSpPr>
      <p:grpSpPr>
        <a:xfrm>
          <a:off x="0" y="0"/>
          <a:ext cx="0" cy="0"/>
          <a:chOff x="0" y="0"/>
          <a:chExt cx="0" cy="0"/>
        </a:xfrm>
      </p:grpSpPr>
      <p:grpSp>
        <p:nvGrpSpPr>
          <p:cNvPr id="153" name="Google Shape;153;p5"/>
          <p:cNvGrpSpPr/>
          <p:nvPr/>
        </p:nvGrpSpPr>
        <p:grpSpPr>
          <a:xfrm>
            <a:off x="308872" y="1028700"/>
            <a:ext cx="17229526" cy="8525109"/>
            <a:chOff x="0" y="0"/>
            <a:chExt cx="4537818" cy="2245296"/>
          </a:xfrm>
        </p:grpSpPr>
        <p:sp>
          <p:nvSpPr>
            <p:cNvPr id="154" name="Google Shape;154;p5"/>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55" name="Google Shape;155;p5"/>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p5"/>
          <p:cNvGrpSpPr/>
          <p:nvPr/>
        </p:nvGrpSpPr>
        <p:grpSpPr>
          <a:xfrm>
            <a:off x="-1662754" y="-1649917"/>
            <a:ext cx="3086100" cy="2889115"/>
            <a:chOff x="0" y="0"/>
            <a:chExt cx="596900" cy="558800"/>
          </a:xfrm>
        </p:grpSpPr>
        <p:sp>
          <p:nvSpPr>
            <p:cNvPr id="157" name="Google Shape;157;p5"/>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58" name="Google Shape;158;p5"/>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9" name="Google Shape;159;p5"/>
          <p:cNvSpPr txBox="1"/>
          <p:nvPr/>
        </p:nvSpPr>
        <p:spPr>
          <a:xfrm>
            <a:off x="4070496" y="1683554"/>
            <a:ext cx="9706278"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Objetivos Específicos</a:t>
            </a:r>
            <a:endParaRPr/>
          </a:p>
        </p:txBody>
      </p:sp>
      <p:grpSp>
        <p:nvGrpSpPr>
          <p:cNvPr id="160" name="Google Shape;160;p5"/>
          <p:cNvGrpSpPr/>
          <p:nvPr/>
        </p:nvGrpSpPr>
        <p:grpSpPr>
          <a:xfrm>
            <a:off x="16895199" y="9049953"/>
            <a:ext cx="3086100" cy="2889115"/>
            <a:chOff x="0" y="0"/>
            <a:chExt cx="596900" cy="558800"/>
          </a:xfrm>
        </p:grpSpPr>
        <p:sp>
          <p:nvSpPr>
            <p:cNvPr id="161" name="Google Shape;161;p5"/>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62" name="Google Shape;162;p5"/>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5"/>
          <p:cNvSpPr txBox="1"/>
          <p:nvPr/>
        </p:nvSpPr>
        <p:spPr>
          <a:xfrm>
            <a:off x="2828550" y="3429000"/>
            <a:ext cx="12630900" cy="5816400"/>
          </a:xfrm>
          <a:prstGeom prst="rect">
            <a:avLst/>
          </a:prstGeom>
          <a:noFill/>
          <a:ln>
            <a:noFill/>
          </a:ln>
        </p:spPr>
        <p:txBody>
          <a:bodyPr anchorCtr="0" anchor="t" bIns="0" lIns="0" spcFirstLastPara="1" rIns="0" wrap="square" tIns="0">
            <a:spAutoFit/>
          </a:bodyPr>
          <a:lstStyle/>
          <a:p>
            <a:pPr indent="-509588" lvl="1" marL="914400" rtl="0" algn="just">
              <a:lnSpc>
                <a:spcPct val="140033"/>
              </a:lnSpc>
              <a:spcBef>
                <a:spcPts val="0"/>
              </a:spcBef>
              <a:spcAft>
                <a:spcPts val="0"/>
              </a:spcAft>
              <a:buClr>
                <a:srgbClr val="2E2C2D"/>
              </a:buClr>
              <a:buSzPts val="4425"/>
              <a:buChar char="•"/>
            </a:pPr>
            <a:r>
              <a:rPr b="1" lang="en-US" sz="2500">
                <a:solidFill>
                  <a:schemeClr val="dk1"/>
                </a:solidFill>
              </a:rPr>
              <a:t>Registro y Etiquetado:</a:t>
            </a:r>
            <a:r>
              <a:rPr lang="en-US" sz="2500">
                <a:solidFill>
                  <a:schemeClr val="dk1"/>
                </a:solidFill>
              </a:rPr>
              <a:t> Inventariar activos asignando un código QR único por equipo en cada sucursal.</a:t>
            </a:r>
            <a:endParaRPr sz="2500">
              <a:solidFill>
                <a:schemeClr val="dk1"/>
              </a:solidFill>
            </a:endParaRPr>
          </a:p>
          <a:p>
            <a:pPr indent="-509588" lvl="1" marL="914400" rtl="0" algn="just">
              <a:lnSpc>
                <a:spcPct val="140033"/>
              </a:lnSpc>
              <a:spcBef>
                <a:spcPts val="0"/>
              </a:spcBef>
              <a:spcAft>
                <a:spcPts val="0"/>
              </a:spcAft>
              <a:buClr>
                <a:srgbClr val="2E2C2D"/>
              </a:buClr>
              <a:buSzPts val="4425"/>
              <a:buChar char="•"/>
            </a:pPr>
            <a:r>
              <a:rPr b="1" lang="en-US" sz="2500">
                <a:solidFill>
                  <a:schemeClr val="dk1"/>
                </a:solidFill>
              </a:rPr>
              <a:t>Captura en Terreno:</a:t>
            </a:r>
            <a:r>
              <a:rPr lang="en-US" sz="2500">
                <a:solidFill>
                  <a:schemeClr val="dk1"/>
                </a:solidFill>
              </a:rPr>
              <a:t> Implementar un lector QR móvil y formularios digitales para el registro de lecturas técnicas (presiones, amperajes, temperaturas).</a:t>
            </a:r>
            <a:endParaRPr sz="2500">
              <a:solidFill>
                <a:schemeClr val="dk1"/>
              </a:solidFill>
            </a:endParaRPr>
          </a:p>
          <a:p>
            <a:pPr indent="-509588" lvl="1" marL="914400" rtl="0" algn="just">
              <a:lnSpc>
                <a:spcPct val="140033"/>
              </a:lnSpc>
              <a:spcBef>
                <a:spcPts val="0"/>
              </a:spcBef>
              <a:spcAft>
                <a:spcPts val="0"/>
              </a:spcAft>
              <a:buClr>
                <a:srgbClr val="2E2C2D"/>
              </a:buClr>
              <a:buSzPts val="4425"/>
              <a:buChar char="•"/>
            </a:pPr>
            <a:r>
              <a:rPr b="1" lang="en-US" sz="2500">
                <a:solidFill>
                  <a:schemeClr val="dk1"/>
                </a:solidFill>
              </a:rPr>
              <a:t>Trazabilidad:</a:t>
            </a:r>
            <a:r>
              <a:rPr lang="en-US" sz="2500">
                <a:solidFill>
                  <a:schemeClr val="dk1"/>
                </a:solidFill>
              </a:rPr>
              <a:t> Almacenar la hoja de vida digital de cada equipo para consulta histórica instantánea.</a:t>
            </a:r>
            <a:endParaRPr sz="2500">
              <a:solidFill>
                <a:schemeClr val="dk1"/>
              </a:solidFill>
            </a:endParaRPr>
          </a:p>
          <a:p>
            <a:pPr indent="-509588" lvl="1" marL="914400" rtl="0" algn="just">
              <a:lnSpc>
                <a:spcPct val="140033"/>
              </a:lnSpc>
              <a:spcBef>
                <a:spcPts val="0"/>
              </a:spcBef>
              <a:spcAft>
                <a:spcPts val="0"/>
              </a:spcAft>
              <a:buClr>
                <a:srgbClr val="2E2C2D"/>
              </a:buClr>
              <a:buSzPts val="4425"/>
              <a:buChar char="•"/>
            </a:pPr>
            <a:r>
              <a:rPr b="1" lang="en-US" sz="2500">
                <a:solidFill>
                  <a:schemeClr val="dk1"/>
                </a:solidFill>
              </a:rPr>
              <a:t>Dashboard Administrativo:</a:t>
            </a:r>
            <a:r>
              <a:rPr lang="en-US" sz="2500">
                <a:solidFill>
                  <a:schemeClr val="dk1"/>
                </a:solidFill>
              </a:rPr>
              <a:t> Crear un panel web responsivo para la supervisión de mantenciones y generación de reportes.</a:t>
            </a:r>
            <a:endParaRPr i="1" sz="4425">
              <a:solidFill>
                <a:srgbClr val="2E2C2D"/>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167" name="Shape 167"/>
        <p:cNvGrpSpPr/>
        <p:nvPr/>
      </p:nvGrpSpPr>
      <p:grpSpPr>
        <a:xfrm>
          <a:off x="0" y="0"/>
          <a:ext cx="0" cy="0"/>
          <a:chOff x="0" y="0"/>
          <a:chExt cx="0" cy="0"/>
        </a:xfrm>
      </p:grpSpPr>
      <p:grpSp>
        <p:nvGrpSpPr>
          <p:cNvPr id="168" name="Google Shape;168;p6"/>
          <p:cNvGrpSpPr/>
          <p:nvPr/>
        </p:nvGrpSpPr>
        <p:grpSpPr>
          <a:xfrm>
            <a:off x="389005" y="1028700"/>
            <a:ext cx="17229526" cy="8525109"/>
            <a:chOff x="0" y="0"/>
            <a:chExt cx="4537818" cy="2245296"/>
          </a:xfrm>
        </p:grpSpPr>
        <p:sp>
          <p:nvSpPr>
            <p:cNvPr id="169" name="Google Shape;169;p6"/>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70" name="Google Shape;170;p6"/>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6"/>
          <p:cNvGrpSpPr/>
          <p:nvPr/>
        </p:nvGrpSpPr>
        <p:grpSpPr>
          <a:xfrm>
            <a:off x="-1662754" y="-1649917"/>
            <a:ext cx="3086100" cy="2889115"/>
            <a:chOff x="0" y="0"/>
            <a:chExt cx="596900" cy="558800"/>
          </a:xfrm>
        </p:grpSpPr>
        <p:sp>
          <p:nvSpPr>
            <p:cNvPr id="172" name="Google Shape;172;p6"/>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73" name="Google Shape;173;p6"/>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6"/>
          <p:cNvSpPr txBox="1"/>
          <p:nvPr/>
        </p:nvSpPr>
        <p:spPr>
          <a:xfrm>
            <a:off x="5117230" y="1863852"/>
            <a:ext cx="8053541"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Alcance Proyecto</a:t>
            </a:r>
            <a:endParaRPr/>
          </a:p>
        </p:txBody>
      </p:sp>
      <p:grpSp>
        <p:nvGrpSpPr>
          <p:cNvPr id="175" name="Google Shape;175;p6"/>
          <p:cNvGrpSpPr/>
          <p:nvPr/>
        </p:nvGrpSpPr>
        <p:grpSpPr>
          <a:xfrm>
            <a:off x="16895199" y="9049953"/>
            <a:ext cx="3086100" cy="2889115"/>
            <a:chOff x="0" y="0"/>
            <a:chExt cx="596900" cy="558800"/>
          </a:xfrm>
        </p:grpSpPr>
        <p:sp>
          <p:nvSpPr>
            <p:cNvPr id="176" name="Google Shape;176;p6"/>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77" name="Google Shape;177;p6"/>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8" name="Google Shape;178;p6"/>
          <p:cNvSpPr txBox="1"/>
          <p:nvPr/>
        </p:nvSpPr>
        <p:spPr>
          <a:xfrm>
            <a:off x="10590379" y="3891025"/>
            <a:ext cx="6784500" cy="53442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1" lang="en-US" sz="2999" u="none" cap="none" strike="noStrike">
                <a:solidFill>
                  <a:srgbClr val="2E2C2D"/>
                </a:solidFill>
                <a:latin typeface="Open Sans"/>
                <a:ea typeface="Open Sans"/>
                <a:cs typeface="Open Sans"/>
                <a:sym typeface="Open Sans"/>
              </a:rPr>
              <a:t>Restricciones del sistema:</a:t>
            </a:r>
            <a:endParaRPr/>
          </a:p>
          <a:p>
            <a:pPr indent="0" lvl="0" marL="0" marR="0" rtl="0" algn="just">
              <a:lnSpc>
                <a:spcPct val="46648"/>
              </a:lnSpc>
              <a:spcBef>
                <a:spcPts val="0"/>
              </a:spcBef>
              <a:spcAft>
                <a:spcPts val="0"/>
              </a:spcAft>
              <a:buNone/>
            </a:pPr>
            <a:r>
              <a:t/>
            </a:r>
            <a:endParaRPr b="1" i="1" sz="2999" u="none" cap="none" strike="noStrike">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Dependencia de conexión a internet para sincronización en tiempo real.</a:t>
            </a:r>
            <a:endParaRPr i="1" sz="2743">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Permisos de uso de cámara en dispositivos móviles para el escáner QR.</a:t>
            </a:r>
            <a:endParaRPr i="1" sz="2743">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Alcance acotado a la infraestructura de prueba definida para el semestre (Fase 1 a Fase 3).</a:t>
            </a:r>
            <a:endParaRPr i="1" sz="2743">
              <a:solidFill>
                <a:srgbClr val="2E2C2D"/>
              </a:solidFill>
              <a:latin typeface="Open Sans"/>
              <a:ea typeface="Open Sans"/>
              <a:cs typeface="Open Sans"/>
              <a:sym typeface="Open Sans"/>
            </a:endParaRPr>
          </a:p>
          <a:p>
            <a:pPr indent="0" lvl="0" marL="914400" marR="0" rtl="0" algn="just">
              <a:lnSpc>
                <a:spcPct val="139991"/>
              </a:lnSpc>
              <a:spcBef>
                <a:spcPts val="0"/>
              </a:spcBef>
              <a:spcAft>
                <a:spcPts val="0"/>
              </a:spcAft>
              <a:buNone/>
            </a:pPr>
            <a:r>
              <a:t/>
            </a:r>
            <a:endParaRPr i="1" sz="2243">
              <a:solidFill>
                <a:srgbClr val="2E2C2D"/>
              </a:solidFill>
              <a:latin typeface="Open Sans"/>
              <a:ea typeface="Open Sans"/>
              <a:cs typeface="Open Sans"/>
              <a:sym typeface="Open Sans"/>
            </a:endParaRPr>
          </a:p>
        </p:txBody>
      </p:sp>
      <p:sp>
        <p:nvSpPr>
          <p:cNvPr id="179" name="Google Shape;179;p6"/>
          <p:cNvSpPr txBox="1"/>
          <p:nvPr/>
        </p:nvSpPr>
        <p:spPr>
          <a:xfrm>
            <a:off x="2592574" y="3839050"/>
            <a:ext cx="6784500" cy="47532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1" lang="en-US" sz="2999" u="none" cap="none" strike="noStrike">
                <a:solidFill>
                  <a:srgbClr val="2E2C2D"/>
                </a:solidFill>
                <a:latin typeface="Open Sans"/>
                <a:ea typeface="Open Sans"/>
                <a:cs typeface="Open Sans"/>
                <a:sym typeface="Open Sans"/>
              </a:rPr>
              <a:t>Funcionalidades</a:t>
            </a:r>
            <a:endParaRPr/>
          </a:p>
          <a:p>
            <a:pPr indent="0" lvl="0" marL="0" marR="0" rtl="0" algn="just">
              <a:lnSpc>
                <a:spcPct val="46648"/>
              </a:lnSpc>
              <a:spcBef>
                <a:spcPts val="0"/>
              </a:spcBef>
              <a:spcAft>
                <a:spcPts val="0"/>
              </a:spcAft>
              <a:buNone/>
            </a:pPr>
            <a:r>
              <a:t/>
            </a:r>
            <a:endParaRPr b="1" i="1" sz="2999" u="none" cap="none" strike="noStrike">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Levantamiento inicial de equipos y etiquetado con QR.</a:t>
            </a:r>
            <a:endParaRPr i="1" sz="2743">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Módulo móvil para técnicos (escáner QR + pauta digital).</a:t>
            </a:r>
            <a:endParaRPr i="1" sz="2743">
              <a:solidFill>
                <a:srgbClr val="2E2C2D"/>
              </a:solidFill>
              <a:latin typeface="Open Sans"/>
              <a:ea typeface="Open Sans"/>
              <a:cs typeface="Open Sans"/>
              <a:sym typeface="Open Sans"/>
            </a:endParaRPr>
          </a:p>
          <a:p>
            <a:pPr indent="-402781" lvl="0" marL="457200" rtl="0" algn="just">
              <a:lnSpc>
                <a:spcPct val="139991"/>
              </a:lnSpc>
              <a:spcBef>
                <a:spcPts val="0"/>
              </a:spcBef>
              <a:spcAft>
                <a:spcPts val="0"/>
              </a:spcAft>
              <a:buClr>
                <a:srgbClr val="2E2C2D"/>
              </a:buClr>
              <a:buSzPts val="2743"/>
              <a:buFont typeface="Open Sans"/>
              <a:buChar char="●"/>
            </a:pPr>
            <a:r>
              <a:rPr i="1" lang="en-US" sz="2743">
                <a:solidFill>
                  <a:srgbClr val="2E2C2D"/>
                </a:solidFill>
                <a:latin typeface="Open Sans"/>
                <a:ea typeface="Open Sans"/>
                <a:cs typeface="Open Sans"/>
                <a:sym typeface="Open Sans"/>
              </a:rPr>
              <a:t>Módulo web para supervisores ACHS (dashboard e historial).</a:t>
            </a:r>
            <a:endParaRPr i="1" sz="2743">
              <a:solidFill>
                <a:srgbClr val="2E2C2D"/>
              </a:solidFill>
              <a:latin typeface="Open Sans"/>
              <a:ea typeface="Open Sans"/>
              <a:cs typeface="Open Sans"/>
              <a:sym typeface="Open Sans"/>
            </a:endParaRPr>
          </a:p>
          <a:p>
            <a:pPr indent="0" lvl="0" marL="914400" marR="0" rtl="0" algn="just">
              <a:lnSpc>
                <a:spcPct val="139991"/>
              </a:lnSpc>
              <a:spcBef>
                <a:spcPts val="0"/>
              </a:spcBef>
              <a:spcAft>
                <a:spcPts val="0"/>
              </a:spcAft>
              <a:buNone/>
            </a:pPr>
            <a:r>
              <a:t/>
            </a:r>
            <a:endParaRPr i="1" sz="2243">
              <a:solidFill>
                <a:srgbClr val="2E2C2D"/>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183" name="Shape 183"/>
        <p:cNvGrpSpPr/>
        <p:nvPr/>
      </p:nvGrpSpPr>
      <p:grpSpPr>
        <a:xfrm>
          <a:off x="0" y="0"/>
          <a:ext cx="0" cy="0"/>
          <a:chOff x="0" y="0"/>
          <a:chExt cx="0" cy="0"/>
        </a:xfrm>
      </p:grpSpPr>
      <p:grpSp>
        <p:nvGrpSpPr>
          <p:cNvPr id="184" name="Google Shape;184;p7"/>
          <p:cNvGrpSpPr/>
          <p:nvPr/>
        </p:nvGrpSpPr>
        <p:grpSpPr>
          <a:xfrm>
            <a:off x="389005" y="1028700"/>
            <a:ext cx="17229526" cy="8525109"/>
            <a:chOff x="0" y="0"/>
            <a:chExt cx="4537818" cy="2245296"/>
          </a:xfrm>
        </p:grpSpPr>
        <p:sp>
          <p:nvSpPr>
            <p:cNvPr id="185" name="Google Shape;185;p7"/>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186" name="Google Shape;186;p7"/>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7"/>
          <p:cNvGrpSpPr/>
          <p:nvPr/>
        </p:nvGrpSpPr>
        <p:grpSpPr>
          <a:xfrm>
            <a:off x="-1662754" y="-1649917"/>
            <a:ext cx="3086100" cy="2889115"/>
            <a:chOff x="0" y="0"/>
            <a:chExt cx="596900" cy="558800"/>
          </a:xfrm>
        </p:grpSpPr>
        <p:sp>
          <p:nvSpPr>
            <p:cNvPr id="188" name="Google Shape;188;p7"/>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89" name="Google Shape;189;p7"/>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0" name="Google Shape;190;p7"/>
          <p:cNvSpPr txBox="1"/>
          <p:nvPr/>
        </p:nvSpPr>
        <p:spPr>
          <a:xfrm>
            <a:off x="5542935" y="1713604"/>
            <a:ext cx="6921666"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Requerimientos</a:t>
            </a:r>
            <a:endParaRPr/>
          </a:p>
        </p:txBody>
      </p:sp>
      <p:grpSp>
        <p:nvGrpSpPr>
          <p:cNvPr id="191" name="Google Shape;191;p7"/>
          <p:cNvGrpSpPr/>
          <p:nvPr/>
        </p:nvGrpSpPr>
        <p:grpSpPr>
          <a:xfrm>
            <a:off x="16895199" y="9049953"/>
            <a:ext cx="3086100" cy="2889115"/>
            <a:chOff x="0" y="0"/>
            <a:chExt cx="596900" cy="558800"/>
          </a:xfrm>
        </p:grpSpPr>
        <p:sp>
          <p:nvSpPr>
            <p:cNvPr id="192" name="Google Shape;192;p7"/>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193" name="Google Shape;193;p7"/>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7"/>
          <p:cNvSpPr txBox="1"/>
          <p:nvPr/>
        </p:nvSpPr>
        <p:spPr>
          <a:xfrm>
            <a:off x="918517" y="3415147"/>
            <a:ext cx="5158746"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E2C2D"/>
                </a:solidFill>
                <a:latin typeface="Open Sans"/>
                <a:ea typeface="Open Sans"/>
                <a:cs typeface="Open Sans"/>
                <a:sym typeface="Open Sans"/>
              </a:rPr>
              <a:t>Funcionales</a:t>
            </a:r>
            <a:endParaRPr/>
          </a:p>
        </p:txBody>
      </p:sp>
      <p:sp>
        <p:nvSpPr>
          <p:cNvPr id="195" name="Google Shape;195;p7"/>
          <p:cNvSpPr txBox="1"/>
          <p:nvPr/>
        </p:nvSpPr>
        <p:spPr>
          <a:xfrm>
            <a:off x="10394045" y="3415147"/>
            <a:ext cx="5158746"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E2C2D"/>
                </a:solidFill>
                <a:latin typeface="Open Sans"/>
                <a:ea typeface="Open Sans"/>
                <a:cs typeface="Open Sans"/>
                <a:sym typeface="Open Sans"/>
              </a:rPr>
              <a:t>No Funcionales</a:t>
            </a:r>
            <a:endParaRPr/>
          </a:p>
        </p:txBody>
      </p:sp>
      <p:sp>
        <p:nvSpPr>
          <p:cNvPr id="196" name="Google Shape;196;p7"/>
          <p:cNvSpPr txBox="1"/>
          <p:nvPr/>
        </p:nvSpPr>
        <p:spPr>
          <a:xfrm>
            <a:off x="700771" y="4396217"/>
            <a:ext cx="6945600" cy="4482600"/>
          </a:xfrm>
          <a:prstGeom prst="rect">
            <a:avLst/>
          </a:prstGeom>
          <a:noFill/>
          <a:ln>
            <a:noFill/>
          </a:ln>
        </p:spPr>
        <p:txBody>
          <a:bodyPr anchorCtr="0" anchor="t" bIns="0" lIns="0" spcFirstLastPara="1" rIns="0" wrap="square" tIns="0">
            <a:spAutoFit/>
          </a:bodyPr>
          <a:lstStyle/>
          <a:p>
            <a:pPr indent="-402781" lvl="0" marL="457200" rtl="0" algn="just">
              <a:lnSpc>
                <a:spcPct val="139991"/>
              </a:lnSpc>
              <a:spcBef>
                <a:spcPts val="0"/>
              </a:spcBef>
              <a:spcAft>
                <a:spcPts val="0"/>
              </a:spcAft>
              <a:buClr>
                <a:srgbClr val="2E2C2D"/>
              </a:buClr>
              <a:buSzPts val="2743"/>
              <a:buChar char="●"/>
            </a:pPr>
            <a:r>
              <a:rPr lang="en-US" sz="2743">
                <a:solidFill>
                  <a:srgbClr val="2E2C2D"/>
                </a:solidFill>
                <a:latin typeface="Open Sans"/>
                <a:ea typeface="Open Sans"/>
                <a:cs typeface="Open Sans"/>
                <a:sym typeface="Open Sans"/>
              </a:rPr>
              <a:t>A</a:t>
            </a:r>
            <a:r>
              <a:rPr lang="en-US" sz="2743">
                <a:solidFill>
                  <a:srgbClr val="2E2C2D"/>
                </a:solidFill>
              </a:rPr>
              <a:t>utenticación de usuarios por roles (Técnico / Supervisor).</a:t>
            </a:r>
            <a:endParaRPr sz="2743">
              <a:solidFill>
                <a:srgbClr val="2E2C2D"/>
              </a:solidFill>
            </a:endParaRPr>
          </a:p>
          <a:p>
            <a:pPr indent="-402781" lvl="0" marL="457200" rtl="0" algn="just">
              <a:lnSpc>
                <a:spcPct val="139991"/>
              </a:lnSpc>
              <a:spcBef>
                <a:spcPts val="0"/>
              </a:spcBef>
              <a:spcAft>
                <a:spcPts val="0"/>
              </a:spcAft>
              <a:buClr>
                <a:srgbClr val="2E2C2D"/>
              </a:buClr>
              <a:buSzPts val="2743"/>
              <a:buChar char="●"/>
            </a:pPr>
            <a:r>
              <a:rPr lang="en-US" sz="2743">
                <a:solidFill>
                  <a:srgbClr val="2E2C2D"/>
                </a:solidFill>
              </a:rPr>
              <a:t>Escaneo de códigos QR mediante la cámara.</a:t>
            </a:r>
            <a:endParaRPr sz="2743">
              <a:solidFill>
                <a:srgbClr val="2E2C2D"/>
              </a:solidFill>
            </a:endParaRPr>
          </a:p>
          <a:p>
            <a:pPr indent="-402781" lvl="0" marL="457200" rtl="0" algn="just">
              <a:lnSpc>
                <a:spcPct val="139991"/>
              </a:lnSpc>
              <a:spcBef>
                <a:spcPts val="0"/>
              </a:spcBef>
              <a:spcAft>
                <a:spcPts val="0"/>
              </a:spcAft>
              <a:buClr>
                <a:srgbClr val="2E2C2D"/>
              </a:buClr>
              <a:buSzPts val="2743"/>
              <a:buChar char="●"/>
            </a:pPr>
            <a:r>
              <a:rPr lang="en-US" sz="2743">
                <a:solidFill>
                  <a:srgbClr val="2E2C2D"/>
                </a:solidFill>
              </a:rPr>
              <a:t>Registro de lecturas técnicas y observaciones.</a:t>
            </a:r>
            <a:endParaRPr sz="2743">
              <a:solidFill>
                <a:srgbClr val="2E2C2D"/>
              </a:solidFill>
            </a:endParaRPr>
          </a:p>
          <a:p>
            <a:pPr indent="-402781" lvl="0" marL="457200" rtl="0" algn="just">
              <a:lnSpc>
                <a:spcPct val="139991"/>
              </a:lnSpc>
              <a:spcBef>
                <a:spcPts val="0"/>
              </a:spcBef>
              <a:spcAft>
                <a:spcPts val="0"/>
              </a:spcAft>
              <a:buClr>
                <a:srgbClr val="2E2C2D"/>
              </a:buClr>
              <a:buSzPts val="2743"/>
              <a:buChar char="●"/>
            </a:pPr>
            <a:r>
              <a:rPr lang="en-US" sz="2743">
                <a:solidFill>
                  <a:srgbClr val="2E2C2D"/>
                </a:solidFill>
              </a:rPr>
              <a:t>Generación de historial de mantenciones.</a:t>
            </a:r>
            <a:endParaRPr sz="2743">
              <a:solidFill>
                <a:srgbClr val="2E2C2D"/>
              </a:solidFill>
            </a:endParaRPr>
          </a:p>
          <a:p>
            <a:pPr indent="0" lvl="0" marL="914400" marR="0" rtl="0" algn="just">
              <a:lnSpc>
                <a:spcPct val="139991"/>
              </a:lnSpc>
              <a:spcBef>
                <a:spcPts val="0"/>
              </a:spcBef>
              <a:spcAft>
                <a:spcPts val="0"/>
              </a:spcAft>
              <a:buNone/>
            </a:pPr>
            <a:r>
              <a:t/>
            </a:r>
            <a:endParaRPr i="1" sz="2243">
              <a:solidFill>
                <a:srgbClr val="2E2C2D"/>
              </a:solidFill>
              <a:latin typeface="Open Sans"/>
              <a:ea typeface="Open Sans"/>
              <a:cs typeface="Open Sans"/>
              <a:sym typeface="Open Sans"/>
            </a:endParaRPr>
          </a:p>
        </p:txBody>
      </p:sp>
      <p:sp>
        <p:nvSpPr>
          <p:cNvPr id="197" name="Google Shape;197;p7"/>
          <p:cNvSpPr txBox="1"/>
          <p:nvPr/>
        </p:nvSpPr>
        <p:spPr>
          <a:xfrm>
            <a:off x="8198781" y="4137775"/>
            <a:ext cx="8861400" cy="4999500"/>
          </a:xfrm>
          <a:prstGeom prst="rect">
            <a:avLst/>
          </a:prstGeom>
          <a:noFill/>
          <a:ln>
            <a:noFill/>
          </a:ln>
        </p:spPr>
        <p:txBody>
          <a:bodyPr anchorCtr="0" anchor="t" bIns="0" lIns="0" spcFirstLastPara="1" rIns="0" wrap="square" tIns="0">
            <a:spAutoFit/>
          </a:bodyPr>
          <a:lstStyle/>
          <a:p>
            <a:pPr indent="-400050" lvl="0" marL="457200" rtl="0" algn="just">
              <a:lnSpc>
                <a:spcPct val="139991"/>
              </a:lnSpc>
              <a:spcBef>
                <a:spcPts val="0"/>
              </a:spcBef>
              <a:spcAft>
                <a:spcPts val="0"/>
              </a:spcAft>
              <a:buClr>
                <a:schemeClr val="dk1"/>
              </a:buClr>
              <a:buSzPts val="2700"/>
              <a:buChar char="●"/>
            </a:pPr>
            <a:r>
              <a:rPr lang="en-US" sz="2700">
                <a:solidFill>
                  <a:schemeClr val="dk1"/>
                </a:solidFill>
              </a:rPr>
              <a:t>Diseño responsivo (adaptable a celulares, tablets y PC).</a:t>
            </a:r>
            <a:endParaRPr sz="2700">
              <a:solidFill>
                <a:schemeClr val="dk1"/>
              </a:solidFill>
            </a:endParaRPr>
          </a:p>
          <a:p>
            <a:pPr indent="-400050" lvl="0" marL="457200" rtl="0" algn="just">
              <a:lnSpc>
                <a:spcPct val="139991"/>
              </a:lnSpc>
              <a:spcBef>
                <a:spcPts val="0"/>
              </a:spcBef>
              <a:spcAft>
                <a:spcPts val="0"/>
              </a:spcAft>
              <a:buClr>
                <a:schemeClr val="dk1"/>
              </a:buClr>
              <a:buSzPts val="2700"/>
              <a:buChar char="●"/>
            </a:pPr>
            <a:r>
              <a:rPr lang="en-US" sz="2700">
                <a:solidFill>
                  <a:schemeClr val="dk1"/>
                </a:solidFill>
              </a:rPr>
              <a:t>Seguridad: Encriptación de contraseñas y control de acceso.</a:t>
            </a:r>
            <a:endParaRPr sz="2700">
              <a:solidFill>
                <a:schemeClr val="dk1"/>
              </a:solidFill>
            </a:endParaRPr>
          </a:p>
          <a:p>
            <a:pPr indent="-400050" lvl="0" marL="457200" rtl="0" algn="just">
              <a:lnSpc>
                <a:spcPct val="139991"/>
              </a:lnSpc>
              <a:spcBef>
                <a:spcPts val="0"/>
              </a:spcBef>
              <a:spcAft>
                <a:spcPts val="0"/>
              </a:spcAft>
              <a:buClr>
                <a:schemeClr val="dk1"/>
              </a:buClr>
              <a:buSzPts val="2700"/>
              <a:buChar char="●"/>
            </a:pPr>
            <a:r>
              <a:rPr lang="en-US" sz="2700">
                <a:solidFill>
                  <a:schemeClr val="dk1"/>
                </a:solidFill>
              </a:rPr>
              <a:t>Rendimiento: Carga rápida de la hoja de vida del equipo tras escanear.</a:t>
            </a:r>
            <a:endParaRPr sz="2700">
              <a:solidFill>
                <a:schemeClr val="dk1"/>
              </a:solidFill>
            </a:endParaRPr>
          </a:p>
          <a:p>
            <a:pPr indent="-400050" lvl="0" marL="457200" rtl="0" algn="just">
              <a:lnSpc>
                <a:spcPct val="139991"/>
              </a:lnSpc>
              <a:spcBef>
                <a:spcPts val="0"/>
              </a:spcBef>
              <a:spcAft>
                <a:spcPts val="0"/>
              </a:spcAft>
              <a:buClr>
                <a:schemeClr val="dk1"/>
              </a:buClr>
              <a:buSzPts val="2700"/>
              <a:buChar char="●"/>
            </a:pPr>
            <a:r>
              <a:rPr lang="en-US" sz="2700">
                <a:solidFill>
                  <a:schemeClr val="dk1"/>
                </a:solidFill>
              </a:rPr>
              <a:t>Usabilidad: Interfaz limpia e intuitiva para uso rápido en terreno.</a:t>
            </a:r>
            <a:endParaRPr sz="2700">
              <a:solidFill>
                <a:schemeClr val="dk1"/>
              </a:solidFill>
            </a:endParaRPr>
          </a:p>
          <a:p>
            <a:pPr indent="0" lvl="0" marL="914400" marR="0" rtl="0" algn="just">
              <a:lnSpc>
                <a:spcPct val="139991"/>
              </a:lnSpc>
              <a:spcBef>
                <a:spcPts val="0"/>
              </a:spcBef>
              <a:spcAft>
                <a:spcPts val="0"/>
              </a:spcAft>
              <a:buNone/>
            </a:pPr>
            <a:r>
              <a:t/>
            </a:r>
            <a:endParaRPr i="1" sz="2243">
              <a:solidFill>
                <a:srgbClr val="2E2C2D"/>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01" name="Shape 201"/>
        <p:cNvGrpSpPr/>
        <p:nvPr/>
      </p:nvGrpSpPr>
      <p:grpSpPr>
        <a:xfrm>
          <a:off x="0" y="0"/>
          <a:ext cx="0" cy="0"/>
          <a:chOff x="0" y="0"/>
          <a:chExt cx="0" cy="0"/>
        </a:xfrm>
      </p:grpSpPr>
      <p:grpSp>
        <p:nvGrpSpPr>
          <p:cNvPr id="202" name="Google Shape;202;p8"/>
          <p:cNvGrpSpPr/>
          <p:nvPr/>
        </p:nvGrpSpPr>
        <p:grpSpPr>
          <a:xfrm>
            <a:off x="228739" y="1028700"/>
            <a:ext cx="17229526" cy="8525109"/>
            <a:chOff x="0" y="0"/>
            <a:chExt cx="4537818" cy="2245296"/>
          </a:xfrm>
        </p:grpSpPr>
        <p:sp>
          <p:nvSpPr>
            <p:cNvPr id="203" name="Google Shape;203;p8">
              <a:hlinkClick r:id="rId3"/>
            </p:cNvPr>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04" name="Google Shape;204;p8"/>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8"/>
          <p:cNvGrpSpPr/>
          <p:nvPr/>
        </p:nvGrpSpPr>
        <p:grpSpPr>
          <a:xfrm>
            <a:off x="-1662754" y="-1649917"/>
            <a:ext cx="3086100" cy="2889115"/>
            <a:chOff x="0" y="0"/>
            <a:chExt cx="596900" cy="558800"/>
          </a:xfrm>
        </p:grpSpPr>
        <p:sp>
          <p:nvSpPr>
            <p:cNvPr id="206" name="Google Shape;206;p8"/>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07" name="Google Shape;207;p8"/>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8"/>
          <p:cNvGrpSpPr/>
          <p:nvPr/>
        </p:nvGrpSpPr>
        <p:grpSpPr>
          <a:xfrm>
            <a:off x="16895199" y="9049953"/>
            <a:ext cx="3086100" cy="2889115"/>
            <a:chOff x="0" y="0"/>
            <a:chExt cx="596900" cy="558800"/>
          </a:xfrm>
        </p:grpSpPr>
        <p:sp>
          <p:nvSpPr>
            <p:cNvPr id="209" name="Google Shape;209;p8"/>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10" name="Google Shape;210;p8"/>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1" name="Google Shape;211;p8"/>
          <p:cNvSpPr/>
          <p:nvPr/>
        </p:nvSpPr>
        <p:spPr>
          <a:xfrm>
            <a:off x="6879413" y="3012223"/>
            <a:ext cx="4262554" cy="4262554"/>
          </a:xfrm>
          <a:custGeom>
            <a:rect b="b" l="l" r="r" t="t"/>
            <a:pathLst>
              <a:path extrusionOk="0" h="4262554" w="4262554">
                <a:moveTo>
                  <a:pt x="0" y="0"/>
                </a:moveTo>
                <a:lnTo>
                  <a:pt x="4262554" y="0"/>
                </a:lnTo>
                <a:lnTo>
                  <a:pt x="4262554" y="4262554"/>
                </a:lnTo>
                <a:lnTo>
                  <a:pt x="0" y="4262554"/>
                </a:lnTo>
                <a:lnTo>
                  <a:pt x="0" y="0"/>
                </a:lnTo>
                <a:close/>
              </a:path>
            </a:pathLst>
          </a:custGeom>
          <a:blipFill rotWithShape="1">
            <a:blip r:embed="rId4">
              <a:alphaModFix/>
            </a:blip>
            <a:stretch>
              <a:fillRect b="0" l="0" r="0" t="0"/>
            </a:stretch>
          </a:blipFill>
          <a:ln>
            <a:noFill/>
          </a:ln>
        </p:spPr>
      </p:sp>
      <p:sp>
        <p:nvSpPr>
          <p:cNvPr id="212" name="Google Shape;212;p8"/>
          <p:cNvSpPr txBox="1"/>
          <p:nvPr/>
        </p:nvSpPr>
        <p:spPr>
          <a:xfrm>
            <a:off x="6434411" y="1666982"/>
            <a:ext cx="5419177"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Metodología</a:t>
            </a:r>
            <a:endParaRPr/>
          </a:p>
        </p:txBody>
      </p:sp>
      <p:sp>
        <p:nvSpPr>
          <p:cNvPr id="213" name="Google Shape;213;p8"/>
          <p:cNvSpPr txBox="1"/>
          <p:nvPr/>
        </p:nvSpPr>
        <p:spPr>
          <a:xfrm>
            <a:off x="3135150" y="7305577"/>
            <a:ext cx="12663300" cy="415500"/>
          </a:xfrm>
          <a:prstGeom prst="rect">
            <a:avLst/>
          </a:prstGeom>
          <a:noFill/>
          <a:ln>
            <a:noFill/>
          </a:ln>
        </p:spPr>
        <p:txBody>
          <a:bodyPr anchorCtr="0" anchor="t" bIns="0" lIns="0" spcFirstLastPara="1" rIns="0" wrap="square" tIns="0">
            <a:spAutoFit/>
          </a:bodyPr>
          <a:lstStyle/>
          <a:p>
            <a:pPr indent="0" lvl="0" marL="0" marR="0" rtl="0" algn="just">
              <a:lnSpc>
                <a:spcPct val="139976"/>
              </a:lnSpc>
              <a:spcBef>
                <a:spcPts val="0"/>
              </a:spcBef>
              <a:spcAft>
                <a:spcPts val="0"/>
              </a:spcAft>
              <a:buNone/>
            </a:pPr>
            <a:r>
              <a:rPr lang="en-US" sz="2700">
                <a:solidFill>
                  <a:schemeClr val="dk1"/>
                </a:solidFill>
              </a:rPr>
              <a:t>Ágil / </a:t>
            </a:r>
            <a:r>
              <a:rPr b="1" lang="en-US" sz="2700">
                <a:solidFill>
                  <a:schemeClr val="dk1"/>
                </a:solidFill>
              </a:rPr>
              <a:t>Scrum</a:t>
            </a:r>
            <a:r>
              <a:rPr lang="en-US" sz="2700">
                <a:solidFill>
                  <a:schemeClr val="dk1"/>
                </a:solidFill>
              </a:rPr>
              <a:t> adaptada al desarrollo por entregas (Sprints de 2 semanas). </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17" name="Shape 217"/>
        <p:cNvGrpSpPr/>
        <p:nvPr/>
      </p:nvGrpSpPr>
      <p:grpSpPr>
        <a:xfrm>
          <a:off x="0" y="0"/>
          <a:ext cx="0" cy="0"/>
          <a:chOff x="0" y="0"/>
          <a:chExt cx="0" cy="0"/>
        </a:xfrm>
      </p:grpSpPr>
      <p:grpSp>
        <p:nvGrpSpPr>
          <p:cNvPr id="218" name="Google Shape;218;p9"/>
          <p:cNvGrpSpPr/>
          <p:nvPr/>
        </p:nvGrpSpPr>
        <p:grpSpPr>
          <a:xfrm>
            <a:off x="389005" y="1028700"/>
            <a:ext cx="17229526" cy="8525109"/>
            <a:chOff x="0" y="0"/>
            <a:chExt cx="4537818" cy="2245296"/>
          </a:xfrm>
        </p:grpSpPr>
        <p:sp>
          <p:nvSpPr>
            <p:cNvPr id="219" name="Google Shape;219;p9"/>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20" name="Google Shape;220;p9"/>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9"/>
          <p:cNvGrpSpPr/>
          <p:nvPr/>
        </p:nvGrpSpPr>
        <p:grpSpPr>
          <a:xfrm>
            <a:off x="-1662754" y="-1649917"/>
            <a:ext cx="3086100" cy="2889115"/>
            <a:chOff x="0" y="0"/>
            <a:chExt cx="596900" cy="558800"/>
          </a:xfrm>
        </p:grpSpPr>
        <p:sp>
          <p:nvSpPr>
            <p:cNvPr id="222" name="Google Shape;222;p9"/>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23" name="Google Shape;223;p9"/>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9"/>
          <p:cNvGrpSpPr/>
          <p:nvPr/>
        </p:nvGrpSpPr>
        <p:grpSpPr>
          <a:xfrm>
            <a:off x="16895199" y="9049953"/>
            <a:ext cx="3086100" cy="2889115"/>
            <a:chOff x="0" y="0"/>
            <a:chExt cx="596900" cy="558800"/>
          </a:xfrm>
        </p:grpSpPr>
        <p:sp>
          <p:nvSpPr>
            <p:cNvPr id="225" name="Google Shape;225;p9"/>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26" name="Google Shape;226;p9"/>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9"/>
          <p:cNvSpPr txBox="1"/>
          <p:nvPr/>
        </p:nvSpPr>
        <p:spPr>
          <a:xfrm>
            <a:off x="6564627" y="1733637"/>
            <a:ext cx="6140372"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Cronograma</a:t>
            </a:r>
            <a:endParaRPr/>
          </a:p>
        </p:txBody>
      </p:sp>
      <p:sp>
        <p:nvSpPr>
          <p:cNvPr id="228" name="Google Shape;228;p9"/>
          <p:cNvSpPr/>
          <p:nvPr/>
        </p:nvSpPr>
        <p:spPr>
          <a:xfrm>
            <a:off x="4105600" y="4434050"/>
            <a:ext cx="10149000" cy="338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2700">
                <a:solidFill>
                  <a:schemeClr val="dk1"/>
                </a:solidFill>
              </a:rPr>
              <a:t>Fase 1 (Semanas 1-5):</a:t>
            </a:r>
            <a:r>
              <a:rPr lang="en-US" sz="2700">
                <a:solidFill>
                  <a:schemeClr val="dk1"/>
                </a:solidFill>
              </a:rPr>
              <a:t> Levantamiento de requerimientos, diseño conceptual y arquitectura del repositorio en GitHub.</a:t>
            </a:r>
            <a:endParaRPr sz="2700">
              <a:solidFill>
                <a:schemeClr val="dk1"/>
              </a:solidFill>
            </a:endParaRPr>
          </a:p>
          <a:p>
            <a:pPr indent="0" lvl="0" marL="0" rtl="0" algn="ctr">
              <a:spcBef>
                <a:spcPts val="0"/>
              </a:spcBef>
              <a:spcAft>
                <a:spcPts val="0"/>
              </a:spcAft>
              <a:buClr>
                <a:schemeClr val="dk1"/>
              </a:buClr>
              <a:buSzPts val="1100"/>
              <a:buFont typeface="Arial"/>
              <a:buNone/>
            </a:pPr>
            <a:r>
              <a:rPr b="1" lang="en-US" sz="2700">
                <a:solidFill>
                  <a:schemeClr val="dk1"/>
                </a:solidFill>
              </a:rPr>
              <a:t>Fase 2 (Semanas 6-12):</a:t>
            </a:r>
            <a:r>
              <a:rPr lang="en-US" sz="2700">
                <a:solidFill>
                  <a:schemeClr val="dk1"/>
                </a:solidFill>
              </a:rPr>
              <a:t> Diseños y, modelado de base de datos PostgreSQL y desarrollo del Producto Mínimo Viable (MVP).</a:t>
            </a:r>
            <a:endParaRPr sz="2700">
              <a:solidFill>
                <a:schemeClr val="dk1"/>
              </a:solidFill>
            </a:endParaRPr>
          </a:p>
          <a:p>
            <a:pPr indent="0" lvl="0" marL="0" rtl="0" algn="ctr">
              <a:spcBef>
                <a:spcPts val="0"/>
              </a:spcBef>
              <a:spcAft>
                <a:spcPts val="0"/>
              </a:spcAft>
              <a:buClr>
                <a:schemeClr val="dk1"/>
              </a:buClr>
              <a:buSzPts val="1100"/>
              <a:buFont typeface="Arial"/>
              <a:buNone/>
            </a:pPr>
            <a:r>
              <a:rPr b="1" lang="en-US" sz="2700">
                <a:solidFill>
                  <a:schemeClr val="dk1"/>
                </a:solidFill>
              </a:rPr>
              <a:t>Fase 3 (Semanas 13-18):</a:t>
            </a:r>
            <a:r>
              <a:rPr lang="en-US" sz="2700">
                <a:solidFill>
                  <a:schemeClr val="dk1"/>
                </a:solidFill>
              </a:rPr>
              <a:t> Pruebas de QA, corrección de errores, integración final y preparación de la defensa.</a:t>
            </a:r>
            <a:endParaRPr sz="2700">
              <a:solidFill>
                <a:schemeClr val="dk1"/>
              </a:solidFill>
            </a:endParaRPr>
          </a:p>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32" name="Shape 232"/>
        <p:cNvGrpSpPr/>
        <p:nvPr/>
      </p:nvGrpSpPr>
      <p:grpSpPr>
        <a:xfrm>
          <a:off x="0" y="0"/>
          <a:ext cx="0" cy="0"/>
          <a:chOff x="0" y="0"/>
          <a:chExt cx="0" cy="0"/>
        </a:xfrm>
      </p:grpSpPr>
      <p:grpSp>
        <p:nvGrpSpPr>
          <p:cNvPr id="233" name="Google Shape;233;p10"/>
          <p:cNvGrpSpPr/>
          <p:nvPr/>
        </p:nvGrpSpPr>
        <p:grpSpPr>
          <a:xfrm>
            <a:off x="-1662754" y="-1649917"/>
            <a:ext cx="3086100" cy="2889115"/>
            <a:chOff x="0" y="0"/>
            <a:chExt cx="596900" cy="558800"/>
          </a:xfrm>
        </p:grpSpPr>
        <p:sp>
          <p:nvSpPr>
            <p:cNvPr id="234" name="Google Shape;234;p10"/>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35" name="Google Shape;235;p10"/>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6" name="Google Shape;236;p10"/>
          <p:cNvGrpSpPr/>
          <p:nvPr/>
        </p:nvGrpSpPr>
        <p:grpSpPr>
          <a:xfrm>
            <a:off x="16895199" y="9049953"/>
            <a:ext cx="3086100" cy="2889115"/>
            <a:chOff x="0" y="0"/>
            <a:chExt cx="596900" cy="558800"/>
          </a:xfrm>
        </p:grpSpPr>
        <p:sp>
          <p:nvSpPr>
            <p:cNvPr id="237" name="Google Shape;237;p10"/>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38" name="Google Shape;238;p10"/>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10"/>
          <p:cNvSpPr txBox="1"/>
          <p:nvPr/>
        </p:nvSpPr>
        <p:spPr>
          <a:xfrm>
            <a:off x="3068837" y="1693570"/>
            <a:ext cx="12150326"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Tecnologías y Herramientas</a:t>
            </a:r>
            <a:endParaRPr/>
          </a:p>
        </p:txBody>
      </p:sp>
      <p:sp>
        <p:nvSpPr>
          <p:cNvPr id="240" name="Google Shape;240;p10"/>
          <p:cNvSpPr txBox="1"/>
          <p:nvPr/>
        </p:nvSpPr>
        <p:spPr>
          <a:xfrm>
            <a:off x="1965441" y="4571625"/>
            <a:ext cx="14357100" cy="3127800"/>
          </a:xfrm>
          <a:prstGeom prst="rect">
            <a:avLst/>
          </a:prstGeom>
          <a:noFill/>
          <a:ln>
            <a:noFill/>
          </a:ln>
        </p:spPr>
        <p:txBody>
          <a:bodyPr anchorCtr="0" anchor="t" bIns="0" lIns="0" spcFirstLastPara="1" rIns="0" wrap="square" tIns="0">
            <a:spAutoFit/>
          </a:bodyPr>
          <a:lstStyle/>
          <a:p>
            <a:pPr indent="0" lvl="0" marL="0" rtl="0" algn="ctr">
              <a:lnSpc>
                <a:spcPct val="140007"/>
              </a:lnSpc>
              <a:spcBef>
                <a:spcPts val="0"/>
              </a:spcBef>
              <a:spcAft>
                <a:spcPts val="0"/>
              </a:spcAft>
              <a:buClr>
                <a:schemeClr val="dk1"/>
              </a:buClr>
              <a:buSzPts val="1100"/>
              <a:buFont typeface="Arial"/>
              <a:buNone/>
            </a:pPr>
            <a:r>
              <a:rPr b="1" lang="en-US" sz="2700">
                <a:solidFill>
                  <a:schemeClr val="dk1"/>
                </a:solidFill>
              </a:rPr>
              <a:t>Frontend Web &amp; Mobile:</a:t>
            </a:r>
            <a:r>
              <a:rPr lang="en-US" sz="2700">
                <a:solidFill>
                  <a:schemeClr val="dk1"/>
                </a:solidFill>
              </a:rPr>
              <a:t> HTML5, CSS3, JavaScript / React.</a:t>
            </a:r>
            <a:endParaRPr sz="2700">
              <a:solidFill>
                <a:schemeClr val="dk1"/>
              </a:solidFill>
            </a:endParaRPr>
          </a:p>
          <a:p>
            <a:pPr indent="0" lvl="0" marL="0" rtl="0" algn="ctr">
              <a:lnSpc>
                <a:spcPct val="140007"/>
              </a:lnSpc>
              <a:spcBef>
                <a:spcPts val="0"/>
              </a:spcBef>
              <a:spcAft>
                <a:spcPts val="0"/>
              </a:spcAft>
              <a:buClr>
                <a:schemeClr val="dk1"/>
              </a:buClr>
              <a:buSzPts val="1100"/>
              <a:buFont typeface="Arial"/>
              <a:buNone/>
            </a:pPr>
            <a:r>
              <a:rPr b="1" lang="en-US" sz="2700">
                <a:solidFill>
                  <a:schemeClr val="dk1"/>
                </a:solidFill>
              </a:rPr>
              <a:t>Backend:</a:t>
            </a:r>
            <a:r>
              <a:rPr lang="en-US" sz="2700">
                <a:solidFill>
                  <a:schemeClr val="dk1"/>
                </a:solidFill>
              </a:rPr>
              <a:t> Node.js (Express) o Python (API REST).</a:t>
            </a:r>
            <a:endParaRPr sz="2700">
              <a:solidFill>
                <a:schemeClr val="dk1"/>
              </a:solidFill>
            </a:endParaRPr>
          </a:p>
          <a:p>
            <a:pPr indent="0" lvl="0" marL="0" rtl="0" algn="ctr">
              <a:lnSpc>
                <a:spcPct val="140007"/>
              </a:lnSpc>
              <a:spcBef>
                <a:spcPts val="0"/>
              </a:spcBef>
              <a:spcAft>
                <a:spcPts val="0"/>
              </a:spcAft>
              <a:buClr>
                <a:schemeClr val="dk1"/>
              </a:buClr>
              <a:buSzPts val="1100"/>
              <a:buFont typeface="Arial"/>
              <a:buNone/>
            </a:pPr>
            <a:r>
              <a:rPr b="1" lang="en-US" sz="2700">
                <a:solidFill>
                  <a:schemeClr val="dk1"/>
                </a:solidFill>
              </a:rPr>
              <a:t>Base de Datos:</a:t>
            </a:r>
            <a:r>
              <a:rPr lang="en-US" sz="2700">
                <a:solidFill>
                  <a:schemeClr val="dk1"/>
                </a:solidFill>
              </a:rPr>
              <a:t> PostgreSQL (almacenamiento relacional de sucursales, activos y lecturas).</a:t>
            </a:r>
            <a:endParaRPr sz="2700">
              <a:solidFill>
                <a:schemeClr val="dk1"/>
              </a:solidFill>
            </a:endParaRPr>
          </a:p>
          <a:p>
            <a:pPr indent="0" lvl="0" marL="0" rtl="0" algn="ctr">
              <a:lnSpc>
                <a:spcPct val="140007"/>
              </a:lnSpc>
              <a:spcBef>
                <a:spcPts val="0"/>
              </a:spcBef>
              <a:spcAft>
                <a:spcPts val="0"/>
              </a:spcAft>
              <a:buClr>
                <a:schemeClr val="dk1"/>
              </a:buClr>
              <a:buSzPts val="1100"/>
              <a:buFont typeface="Arial"/>
              <a:buNone/>
            </a:pPr>
            <a:r>
              <a:rPr b="1" lang="en-US" sz="2700">
                <a:solidFill>
                  <a:schemeClr val="dk1"/>
                </a:solidFill>
              </a:rPr>
              <a:t>Gestión y QA:</a:t>
            </a:r>
            <a:r>
              <a:rPr lang="en-US" sz="2700">
                <a:solidFill>
                  <a:schemeClr val="dk1"/>
                </a:solidFill>
              </a:rPr>
              <a:t> GitHub, Git, Figma, Postman (para pruebas de API).</a:t>
            </a:r>
            <a:endParaRPr sz="2700">
              <a:solidFill>
                <a:schemeClr val="dk1"/>
              </a:solidFill>
            </a:endParaRPr>
          </a:p>
          <a:p>
            <a:pPr indent="0" lvl="0" marL="0" marR="0" rtl="0" algn="ctr">
              <a:lnSpc>
                <a:spcPct val="140007"/>
              </a:lnSpc>
              <a:spcBef>
                <a:spcPts val="0"/>
              </a:spcBef>
              <a:spcAft>
                <a:spcPts val="0"/>
              </a:spcAft>
              <a:buNone/>
            </a:pPr>
            <a:r>
              <a:t/>
            </a:r>
            <a:endParaRPr b="1" sz="5199">
              <a:solidFill>
                <a:srgbClr val="2E2C2D"/>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44" name="Shape 244"/>
        <p:cNvGrpSpPr/>
        <p:nvPr/>
      </p:nvGrpSpPr>
      <p:grpSpPr>
        <a:xfrm>
          <a:off x="0" y="0"/>
          <a:ext cx="0" cy="0"/>
          <a:chOff x="0" y="0"/>
          <a:chExt cx="0" cy="0"/>
        </a:xfrm>
      </p:grpSpPr>
      <p:grpSp>
        <p:nvGrpSpPr>
          <p:cNvPr id="245" name="Google Shape;245;p12"/>
          <p:cNvGrpSpPr/>
          <p:nvPr/>
        </p:nvGrpSpPr>
        <p:grpSpPr>
          <a:xfrm>
            <a:off x="389005" y="1028700"/>
            <a:ext cx="17229641" cy="8525164"/>
            <a:chOff x="0" y="0"/>
            <a:chExt cx="4537818" cy="2245296"/>
          </a:xfrm>
        </p:grpSpPr>
        <p:sp>
          <p:nvSpPr>
            <p:cNvPr id="246" name="Google Shape;246;p12"/>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47" name="Google Shape;247;p12"/>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12"/>
          <p:cNvGrpSpPr/>
          <p:nvPr/>
        </p:nvGrpSpPr>
        <p:grpSpPr>
          <a:xfrm>
            <a:off x="-1662754" y="-1649917"/>
            <a:ext cx="3086100" cy="2889115"/>
            <a:chOff x="0" y="0"/>
            <a:chExt cx="596900" cy="558800"/>
          </a:xfrm>
        </p:grpSpPr>
        <p:sp>
          <p:nvSpPr>
            <p:cNvPr id="249" name="Google Shape;249;p12"/>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50" name="Google Shape;250;p12"/>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12"/>
          <p:cNvGrpSpPr/>
          <p:nvPr/>
        </p:nvGrpSpPr>
        <p:grpSpPr>
          <a:xfrm>
            <a:off x="16895199" y="9049953"/>
            <a:ext cx="3086100" cy="2889115"/>
            <a:chOff x="0" y="0"/>
            <a:chExt cx="596900" cy="558800"/>
          </a:xfrm>
        </p:grpSpPr>
        <p:sp>
          <p:nvSpPr>
            <p:cNvPr id="252" name="Google Shape;252;p12"/>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53" name="Google Shape;253;p12"/>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4" name="Google Shape;254;p12"/>
          <p:cNvSpPr/>
          <p:nvPr/>
        </p:nvSpPr>
        <p:spPr>
          <a:xfrm>
            <a:off x="7271053" y="2530732"/>
            <a:ext cx="3745895" cy="3745895"/>
          </a:xfrm>
          <a:custGeom>
            <a:rect b="b" l="l" r="r" t="t"/>
            <a:pathLst>
              <a:path extrusionOk="0" h="3745895" w="3745895">
                <a:moveTo>
                  <a:pt x="0" y="0"/>
                </a:moveTo>
                <a:lnTo>
                  <a:pt x="3745894" y="0"/>
                </a:lnTo>
                <a:lnTo>
                  <a:pt x="3745894" y="3745895"/>
                </a:lnTo>
                <a:lnTo>
                  <a:pt x="0" y="3745895"/>
                </a:lnTo>
                <a:lnTo>
                  <a:pt x="0" y="0"/>
                </a:lnTo>
                <a:close/>
              </a:path>
            </a:pathLst>
          </a:custGeom>
          <a:blipFill rotWithShape="1">
            <a:blip r:embed="rId3">
              <a:alphaModFix/>
            </a:blip>
            <a:stretch>
              <a:fillRect b="0" l="0" r="0" t="0"/>
            </a:stretch>
          </a:blipFill>
          <a:ln>
            <a:noFill/>
          </a:ln>
        </p:spPr>
      </p:sp>
      <p:sp>
        <p:nvSpPr>
          <p:cNvPr id="255" name="Google Shape;255;p12"/>
          <p:cNvSpPr txBox="1"/>
          <p:nvPr/>
        </p:nvSpPr>
        <p:spPr>
          <a:xfrm>
            <a:off x="4992022" y="1793736"/>
            <a:ext cx="8303955"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Modelo de Negocio</a:t>
            </a:r>
            <a:endParaRPr/>
          </a:p>
        </p:txBody>
      </p:sp>
      <p:sp>
        <p:nvSpPr>
          <p:cNvPr id="256" name="Google Shape;256;p12"/>
          <p:cNvSpPr txBox="1"/>
          <p:nvPr/>
        </p:nvSpPr>
        <p:spPr>
          <a:xfrm>
            <a:off x="2715166" y="5488175"/>
            <a:ext cx="13510200" cy="3836100"/>
          </a:xfrm>
          <a:prstGeom prst="rect">
            <a:avLst/>
          </a:prstGeom>
          <a:noFill/>
          <a:ln>
            <a:noFill/>
          </a:ln>
        </p:spPr>
        <p:txBody>
          <a:bodyPr anchorCtr="0" anchor="t" bIns="0" lIns="0" spcFirstLastPara="1" rIns="0" wrap="square" tIns="0">
            <a:spAutoFit/>
          </a:bodyPr>
          <a:lstStyle/>
          <a:p>
            <a:pPr indent="0" lvl="0" marL="914400" rtl="0" algn="just">
              <a:lnSpc>
                <a:spcPct val="139991"/>
              </a:lnSpc>
              <a:spcBef>
                <a:spcPts val="0"/>
              </a:spcBef>
              <a:spcAft>
                <a:spcPts val="0"/>
              </a:spcAft>
              <a:buClr>
                <a:schemeClr val="dk1"/>
              </a:buClr>
              <a:buSzPts val="1100"/>
              <a:buFont typeface="Arial"/>
              <a:buNone/>
            </a:pPr>
            <a:r>
              <a:rPr b="1" lang="en-US" sz="2700">
                <a:solidFill>
                  <a:schemeClr val="dk1"/>
                </a:solidFill>
              </a:rPr>
              <a:t>Enfoque Institucional:</a:t>
            </a:r>
            <a:r>
              <a:rPr lang="en-US" sz="2700">
                <a:solidFill>
                  <a:schemeClr val="dk1"/>
                </a:solidFill>
              </a:rPr>
              <a:t> Diseñado a la medida para la gestión operativa en la ACHS.</a:t>
            </a:r>
            <a:endParaRPr sz="2700">
              <a:solidFill>
                <a:schemeClr val="dk1"/>
              </a:solidFill>
            </a:endParaRPr>
          </a:p>
          <a:p>
            <a:pPr indent="0" lvl="0" marL="914400" rtl="0" algn="just">
              <a:lnSpc>
                <a:spcPct val="139991"/>
              </a:lnSpc>
              <a:spcBef>
                <a:spcPts val="0"/>
              </a:spcBef>
              <a:spcAft>
                <a:spcPts val="0"/>
              </a:spcAft>
              <a:buClr>
                <a:schemeClr val="dk1"/>
              </a:buClr>
              <a:buSzPts val="1100"/>
              <a:buFont typeface="Arial"/>
              <a:buNone/>
            </a:pPr>
            <a:r>
              <a:rPr b="1" lang="en-US" sz="2700">
                <a:solidFill>
                  <a:schemeClr val="dk1"/>
                </a:solidFill>
              </a:rPr>
              <a:t>Eficiencia Operacional:</a:t>
            </a:r>
            <a:r>
              <a:rPr lang="en-US" sz="2700">
                <a:solidFill>
                  <a:schemeClr val="dk1"/>
                </a:solidFill>
              </a:rPr>
              <a:t> Reducción del tiempo de captura de datos en terreno hasta en un 50%.</a:t>
            </a:r>
            <a:endParaRPr sz="2700">
              <a:solidFill>
                <a:schemeClr val="dk1"/>
              </a:solidFill>
            </a:endParaRPr>
          </a:p>
          <a:p>
            <a:pPr indent="0" lvl="0" marL="914400" rtl="0" algn="just">
              <a:lnSpc>
                <a:spcPct val="139991"/>
              </a:lnSpc>
              <a:spcBef>
                <a:spcPts val="0"/>
              </a:spcBef>
              <a:spcAft>
                <a:spcPts val="0"/>
              </a:spcAft>
              <a:buClr>
                <a:schemeClr val="dk1"/>
              </a:buClr>
              <a:buSzPts val="1100"/>
              <a:buFont typeface="Arial"/>
              <a:buNone/>
            </a:pPr>
            <a:r>
              <a:rPr b="1" lang="en-US" sz="2700">
                <a:solidFill>
                  <a:schemeClr val="dk1"/>
                </a:solidFill>
              </a:rPr>
              <a:t>Trazabilidad Garantizada:</a:t>
            </a:r>
            <a:r>
              <a:rPr lang="en-US" sz="2700">
                <a:solidFill>
                  <a:schemeClr val="dk1"/>
                </a:solidFill>
              </a:rPr>
              <a:t> Eliminación de extravíos de informes de mantención.</a:t>
            </a:r>
            <a:endParaRPr sz="2700">
              <a:solidFill>
                <a:schemeClr val="dk1"/>
              </a:solidFill>
            </a:endParaRPr>
          </a:p>
          <a:p>
            <a:pPr indent="0" lvl="0" marL="914400" rtl="0" algn="just">
              <a:lnSpc>
                <a:spcPct val="139991"/>
              </a:lnSpc>
              <a:spcBef>
                <a:spcPts val="0"/>
              </a:spcBef>
              <a:spcAft>
                <a:spcPts val="0"/>
              </a:spcAft>
              <a:buClr>
                <a:schemeClr val="dk1"/>
              </a:buClr>
              <a:buSzPts val="1100"/>
              <a:buFont typeface="Arial"/>
              <a:buNone/>
            </a:pPr>
            <a:r>
              <a:rPr b="1" lang="en-US" sz="2700">
                <a:solidFill>
                  <a:schemeClr val="dk1"/>
                </a:solidFill>
              </a:rPr>
              <a:t>Sostenibilidad:</a:t>
            </a:r>
            <a:r>
              <a:rPr lang="en-US" sz="2700">
                <a:solidFill>
                  <a:schemeClr val="dk1"/>
                </a:solidFill>
              </a:rPr>
              <a:t> Eliminación del papel en el flujo de mantenimiento preventivo.</a:t>
            </a:r>
            <a:endParaRPr sz="2700">
              <a:solidFill>
                <a:schemeClr val="dk1"/>
              </a:solidFill>
            </a:endParaRPr>
          </a:p>
          <a:p>
            <a:pPr indent="0" lvl="0" marL="914400" marR="0" rtl="0" algn="just">
              <a:lnSpc>
                <a:spcPct val="139991"/>
              </a:lnSpc>
              <a:spcBef>
                <a:spcPts val="0"/>
              </a:spcBef>
              <a:spcAft>
                <a:spcPts val="0"/>
              </a:spcAft>
              <a:buNone/>
            </a:pPr>
            <a:r>
              <a:t/>
            </a:r>
            <a:endParaRPr i="1" sz="2243">
              <a:solidFill>
                <a:srgbClr val="2E2C2D"/>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60" name="Shape 260"/>
        <p:cNvGrpSpPr/>
        <p:nvPr/>
      </p:nvGrpSpPr>
      <p:grpSpPr>
        <a:xfrm>
          <a:off x="0" y="0"/>
          <a:ext cx="0" cy="0"/>
          <a:chOff x="0" y="0"/>
          <a:chExt cx="0" cy="0"/>
        </a:xfrm>
      </p:grpSpPr>
      <p:grpSp>
        <p:nvGrpSpPr>
          <p:cNvPr id="261" name="Google Shape;261;p14"/>
          <p:cNvGrpSpPr/>
          <p:nvPr/>
        </p:nvGrpSpPr>
        <p:grpSpPr>
          <a:xfrm>
            <a:off x="596774" y="880946"/>
            <a:ext cx="17229526" cy="8525109"/>
            <a:chOff x="0" y="0"/>
            <a:chExt cx="4537818" cy="2245296"/>
          </a:xfrm>
        </p:grpSpPr>
        <p:sp>
          <p:nvSpPr>
            <p:cNvPr id="262" name="Google Shape;262;p14"/>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63" name="Google Shape;263;p14"/>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14"/>
          <p:cNvGrpSpPr/>
          <p:nvPr/>
        </p:nvGrpSpPr>
        <p:grpSpPr>
          <a:xfrm>
            <a:off x="-1662754" y="-1649917"/>
            <a:ext cx="3086100" cy="2889115"/>
            <a:chOff x="0" y="0"/>
            <a:chExt cx="596900" cy="558800"/>
          </a:xfrm>
        </p:grpSpPr>
        <p:sp>
          <p:nvSpPr>
            <p:cNvPr id="265" name="Google Shape;265;p14"/>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66" name="Google Shape;266;p14"/>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14"/>
          <p:cNvSpPr txBox="1"/>
          <p:nvPr/>
        </p:nvSpPr>
        <p:spPr>
          <a:xfrm>
            <a:off x="5653117" y="1793736"/>
            <a:ext cx="6981765"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Mejoras futuras</a:t>
            </a:r>
            <a:endParaRPr/>
          </a:p>
        </p:txBody>
      </p:sp>
      <p:grpSp>
        <p:nvGrpSpPr>
          <p:cNvPr id="268" name="Google Shape;268;p14"/>
          <p:cNvGrpSpPr/>
          <p:nvPr/>
        </p:nvGrpSpPr>
        <p:grpSpPr>
          <a:xfrm>
            <a:off x="16895199" y="9049953"/>
            <a:ext cx="3086100" cy="2889115"/>
            <a:chOff x="0" y="0"/>
            <a:chExt cx="596900" cy="558800"/>
          </a:xfrm>
        </p:grpSpPr>
        <p:sp>
          <p:nvSpPr>
            <p:cNvPr id="269" name="Google Shape;269;p14"/>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70" name="Google Shape;270;p14"/>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1" name="Google Shape;271;p14"/>
          <p:cNvSpPr txBox="1"/>
          <p:nvPr/>
        </p:nvSpPr>
        <p:spPr>
          <a:xfrm>
            <a:off x="3187681" y="3806650"/>
            <a:ext cx="12047700" cy="4819800"/>
          </a:xfrm>
          <a:prstGeom prst="rect">
            <a:avLst/>
          </a:prstGeom>
          <a:noFill/>
          <a:ln>
            <a:noFill/>
          </a:ln>
        </p:spPr>
        <p:txBody>
          <a:bodyPr anchorCtr="0" anchor="t" bIns="0" lIns="0" spcFirstLastPara="1" rIns="0" wrap="square" tIns="0">
            <a:spAutoFit/>
          </a:bodyPr>
          <a:lstStyle/>
          <a:p>
            <a:pPr indent="-412687" lvl="1" marL="914400" rtl="0" algn="l">
              <a:lnSpc>
                <a:spcPct val="140013"/>
              </a:lnSpc>
              <a:spcBef>
                <a:spcPts val="0"/>
              </a:spcBef>
              <a:spcAft>
                <a:spcPts val="0"/>
              </a:spcAft>
              <a:buClr>
                <a:srgbClr val="2E2C2D"/>
              </a:buClr>
              <a:buSzPts val="2899"/>
              <a:buChar char="•"/>
            </a:pPr>
            <a:r>
              <a:rPr i="1" lang="en-US" sz="2899">
                <a:solidFill>
                  <a:srgbClr val="2E2C2D"/>
                </a:solidFill>
                <a:latin typeface="Open Sans"/>
                <a:ea typeface="Open Sans"/>
                <a:cs typeface="Open Sans"/>
                <a:sym typeface="Open Sans"/>
              </a:rPr>
              <a:t>Sincronización 100% offline para subterráneos o salas sin cobertura celular.</a:t>
            </a:r>
            <a:endParaRPr i="1" sz="2899">
              <a:solidFill>
                <a:srgbClr val="2E2C2D"/>
              </a:solidFill>
              <a:latin typeface="Open Sans"/>
              <a:ea typeface="Open Sans"/>
              <a:cs typeface="Open Sans"/>
              <a:sym typeface="Open Sans"/>
            </a:endParaRPr>
          </a:p>
          <a:p>
            <a:pPr indent="-412687" lvl="1" marL="914400" rtl="0" algn="l">
              <a:lnSpc>
                <a:spcPct val="140013"/>
              </a:lnSpc>
              <a:spcBef>
                <a:spcPts val="0"/>
              </a:spcBef>
              <a:spcAft>
                <a:spcPts val="0"/>
              </a:spcAft>
              <a:buClr>
                <a:srgbClr val="2E2C2D"/>
              </a:buClr>
              <a:buSzPts val="2899"/>
              <a:buChar char="•"/>
            </a:pPr>
            <a:r>
              <a:rPr i="1" lang="en-US" sz="2899">
                <a:solidFill>
                  <a:srgbClr val="2E2C2D"/>
                </a:solidFill>
                <a:latin typeface="Open Sans"/>
                <a:ea typeface="Open Sans"/>
                <a:cs typeface="Open Sans"/>
                <a:sym typeface="Open Sans"/>
              </a:rPr>
              <a:t>Módulo de firmas digitales del recepcionista de la sucursal.</a:t>
            </a:r>
            <a:endParaRPr i="1" sz="2899">
              <a:solidFill>
                <a:srgbClr val="2E2C2D"/>
              </a:solidFill>
              <a:latin typeface="Open Sans"/>
              <a:ea typeface="Open Sans"/>
              <a:cs typeface="Open Sans"/>
              <a:sym typeface="Open Sans"/>
            </a:endParaRPr>
          </a:p>
          <a:p>
            <a:pPr indent="-412687" lvl="1" marL="914400" rtl="0" algn="l">
              <a:lnSpc>
                <a:spcPct val="140013"/>
              </a:lnSpc>
              <a:spcBef>
                <a:spcPts val="0"/>
              </a:spcBef>
              <a:spcAft>
                <a:spcPts val="0"/>
              </a:spcAft>
              <a:buClr>
                <a:srgbClr val="2E2C2D"/>
              </a:buClr>
              <a:buSzPts val="2899"/>
              <a:buChar char="•"/>
            </a:pPr>
            <a:r>
              <a:rPr i="1" lang="en-US" sz="2899">
                <a:solidFill>
                  <a:srgbClr val="2E2C2D"/>
                </a:solidFill>
                <a:latin typeface="Open Sans"/>
                <a:ea typeface="Open Sans"/>
                <a:cs typeface="Open Sans"/>
                <a:sym typeface="Open Sans"/>
              </a:rPr>
              <a:t>Generación e impresión de reportes automatizados en PDF para auditorías.</a:t>
            </a:r>
            <a:endParaRPr i="1" sz="2899">
              <a:solidFill>
                <a:srgbClr val="2E2C2D"/>
              </a:solidFill>
              <a:latin typeface="Open Sans"/>
              <a:ea typeface="Open Sans"/>
              <a:cs typeface="Open Sans"/>
              <a:sym typeface="Open Sans"/>
            </a:endParaRPr>
          </a:p>
          <a:p>
            <a:pPr indent="-412687" lvl="1" marL="914400" rtl="0" algn="l">
              <a:lnSpc>
                <a:spcPct val="140013"/>
              </a:lnSpc>
              <a:spcBef>
                <a:spcPts val="0"/>
              </a:spcBef>
              <a:spcAft>
                <a:spcPts val="0"/>
              </a:spcAft>
              <a:buClr>
                <a:srgbClr val="2E2C2D"/>
              </a:buClr>
              <a:buSzPts val="2899"/>
              <a:buChar char="•"/>
            </a:pPr>
            <a:r>
              <a:rPr i="1" lang="en-US" sz="2899">
                <a:solidFill>
                  <a:srgbClr val="2E2C2D"/>
                </a:solidFill>
                <a:latin typeface="Open Sans"/>
                <a:ea typeface="Open Sans"/>
                <a:cs typeface="Open Sans"/>
                <a:sym typeface="Open Sans"/>
              </a:rPr>
              <a:t>Notificaciones y alertas automáticas cuando un parámetro esté fuera de rango crítico (ej. alta presión).</a:t>
            </a:r>
            <a:endParaRPr i="1" sz="2899">
              <a:solidFill>
                <a:srgbClr val="2E2C2D"/>
              </a:solidFill>
              <a:latin typeface="Open Sans"/>
              <a:ea typeface="Open Sans"/>
              <a:cs typeface="Open Sans"/>
              <a:sym typeface="Open Sans"/>
            </a:endParaRPr>
          </a:p>
          <a:p>
            <a:pPr indent="-313054" lvl="1" marL="626109" marR="0" rtl="0" algn="l">
              <a:lnSpc>
                <a:spcPct val="140013"/>
              </a:lnSpc>
              <a:spcBef>
                <a:spcPts val="0"/>
              </a:spcBef>
              <a:spcAft>
                <a:spcPts val="0"/>
              </a:spcAft>
              <a:buClr>
                <a:srgbClr val="2E2C2D"/>
              </a:buClr>
              <a:buSzPts val="2899"/>
              <a:buFont typeface="Open Sans"/>
              <a:buChar char="•"/>
            </a:pPr>
            <a:r>
              <a:t/>
            </a:r>
            <a:endParaRPr i="1" sz="2899">
              <a:solidFill>
                <a:srgbClr val="2E2C2D"/>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75" name="Shape 275"/>
        <p:cNvGrpSpPr/>
        <p:nvPr/>
      </p:nvGrpSpPr>
      <p:grpSpPr>
        <a:xfrm>
          <a:off x="0" y="0"/>
          <a:ext cx="0" cy="0"/>
          <a:chOff x="0" y="0"/>
          <a:chExt cx="0" cy="0"/>
        </a:xfrm>
      </p:grpSpPr>
      <p:grpSp>
        <p:nvGrpSpPr>
          <p:cNvPr id="276" name="Google Shape;276;p15"/>
          <p:cNvGrpSpPr/>
          <p:nvPr/>
        </p:nvGrpSpPr>
        <p:grpSpPr>
          <a:xfrm>
            <a:off x="389005" y="1028700"/>
            <a:ext cx="17229641" cy="8525164"/>
            <a:chOff x="0" y="0"/>
            <a:chExt cx="4537818" cy="2245296"/>
          </a:xfrm>
        </p:grpSpPr>
        <p:sp>
          <p:nvSpPr>
            <p:cNvPr id="277" name="Google Shape;277;p15"/>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78" name="Google Shape;278;p15"/>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p15"/>
          <p:cNvGrpSpPr/>
          <p:nvPr/>
        </p:nvGrpSpPr>
        <p:grpSpPr>
          <a:xfrm>
            <a:off x="-1662754" y="-1649917"/>
            <a:ext cx="3086100" cy="2889115"/>
            <a:chOff x="0" y="0"/>
            <a:chExt cx="596900" cy="558800"/>
          </a:xfrm>
        </p:grpSpPr>
        <p:sp>
          <p:nvSpPr>
            <p:cNvPr id="280" name="Google Shape;280;p15"/>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81" name="Google Shape;281;p15"/>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2" name="Google Shape;282;p15"/>
          <p:cNvGrpSpPr/>
          <p:nvPr/>
        </p:nvGrpSpPr>
        <p:grpSpPr>
          <a:xfrm>
            <a:off x="16895199" y="9049953"/>
            <a:ext cx="3086100" cy="2889115"/>
            <a:chOff x="0" y="0"/>
            <a:chExt cx="596900" cy="558800"/>
          </a:xfrm>
        </p:grpSpPr>
        <p:sp>
          <p:nvSpPr>
            <p:cNvPr id="283" name="Google Shape;283;p15"/>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84" name="Google Shape;284;p15"/>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15"/>
          <p:cNvSpPr/>
          <p:nvPr/>
        </p:nvSpPr>
        <p:spPr>
          <a:xfrm>
            <a:off x="12443831" y="1904128"/>
            <a:ext cx="1922324" cy="1917518"/>
          </a:xfrm>
          <a:custGeom>
            <a:rect b="b" l="l" r="r" t="t"/>
            <a:pathLst>
              <a:path extrusionOk="0" h="1917518" w="1922324">
                <a:moveTo>
                  <a:pt x="0" y="0"/>
                </a:moveTo>
                <a:lnTo>
                  <a:pt x="1922324" y="0"/>
                </a:lnTo>
                <a:lnTo>
                  <a:pt x="1922324" y="1917519"/>
                </a:lnTo>
                <a:lnTo>
                  <a:pt x="0" y="1917519"/>
                </a:lnTo>
                <a:lnTo>
                  <a:pt x="0" y="0"/>
                </a:lnTo>
                <a:close/>
              </a:path>
            </a:pathLst>
          </a:custGeom>
          <a:blipFill rotWithShape="1">
            <a:blip r:embed="rId3">
              <a:alphaModFix/>
            </a:blip>
            <a:stretch>
              <a:fillRect b="0" l="0" r="0" t="0"/>
            </a:stretch>
          </a:blipFill>
          <a:ln>
            <a:noFill/>
          </a:ln>
        </p:spPr>
      </p:sp>
      <p:sp>
        <p:nvSpPr>
          <p:cNvPr id="286" name="Google Shape;286;p15"/>
          <p:cNvSpPr txBox="1"/>
          <p:nvPr/>
        </p:nvSpPr>
        <p:spPr>
          <a:xfrm>
            <a:off x="6400823" y="1706882"/>
            <a:ext cx="5486354" cy="1245055"/>
          </a:xfrm>
          <a:prstGeom prst="rect">
            <a:avLst/>
          </a:prstGeom>
          <a:noFill/>
          <a:ln>
            <a:noFill/>
          </a:ln>
        </p:spPr>
        <p:txBody>
          <a:bodyPr anchorCtr="0" anchor="t" bIns="0" lIns="0" spcFirstLastPara="1" rIns="0" wrap="square" tIns="0">
            <a:spAutoFit/>
          </a:bodyPr>
          <a:lstStyle/>
          <a:p>
            <a:pPr indent="0" lvl="0" marL="0" marR="0" rtl="0" algn="l">
              <a:lnSpc>
                <a:spcPct val="104004"/>
              </a:lnSpc>
              <a:spcBef>
                <a:spcPts val="0"/>
              </a:spcBef>
              <a:spcAft>
                <a:spcPts val="0"/>
              </a:spcAft>
              <a:buNone/>
            </a:pPr>
            <a:r>
              <a:rPr b="0" i="0" lang="en-US" sz="9039" u="none" cap="none" strike="noStrike">
                <a:solidFill>
                  <a:srgbClr val="2E2C2D"/>
                </a:solidFill>
                <a:latin typeface="Anton"/>
                <a:ea typeface="Anton"/>
                <a:cs typeface="Anton"/>
                <a:sym typeface="Anton"/>
              </a:rPr>
              <a:t>CONCLUSIÓN</a:t>
            </a:r>
            <a:endParaRPr/>
          </a:p>
        </p:txBody>
      </p:sp>
      <p:sp>
        <p:nvSpPr>
          <p:cNvPr id="287" name="Google Shape;287;p15"/>
          <p:cNvSpPr txBox="1"/>
          <p:nvPr/>
        </p:nvSpPr>
        <p:spPr>
          <a:xfrm>
            <a:off x="2998039" y="3979050"/>
            <a:ext cx="12291900" cy="5070900"/>
          </a:xfrm>
          <a:prstGeom prst="rect">
            <a:avLst/>
          </a:prstGeom>
          <a:noFill/>
          <a:ln>
            <a:noFill/>
          </a:ln>
        </p:spPr>
        <p:txBody>
          <a:bodyPr anchorCtr="0" anchor="t" bIns="0" lIns="0" spcFirstLastPara="1" rIns="0" wrap="square" tIns="0">
            <a:spAutoFit/>
          </a:bodyPr>
          <a:lstStyle/>
          <a:p>
            <a:pPr indent="-400050" lvl="1" marL="914400" rtl="0" algn="just">
              <a:lnSpc>
                <a:spcPct val="140023"/>
              </a:lnSpc>
              <a:spcBef>
                <a:spcPts val="0"/>
              </a:spcBef>
              <a:spcAft>
                <a:spcPts val="0"/>
              </a:spcAft>
              <a:buClr>
                <a:srgbClr val="2E2C2D"/>
              </a:buClr>
              <a:buSzPts val="2700"/>
              <a:buChar char="•"/>
            </a:pPr>
            <a:r>
              <a:rPr b="1" lang="en-US" sz="2700">
                <a:solidFill>
                  <a:schemeClr val="dk1"/>
                </a:solidFill>
              </a:rPr>
              <a:t>HVAC-Track</a:t>
            </a:r>
            <a:r>
              <a:rPr lang="en-US" sz="2700">
                <a:solidFill>
                  <a:schemeClr val="dk1"/>
                </a:solidFill>
              </a:rPr>
              <a:t> resuelve la falta de trazabilidad en el mantenimiento de equipos en sucursales.</a:t>
            </a:r>
            <a:endParaRPr sz="2700">
              <a:solidFill>
                <a:schemeClr val="dk1"/>
              </a:solidFill>
            </a:endParaRPr>
          </a:p>
          <a:p>
            <a:pPr indent="-400050" lvl="1" marL="914400" rtl="0" algn="just">
              <a:lnSpc>
                <a:spcPct val="140023"/>
              </a:lnSpc>
              <a:spcBef>
                <a:spcPts val="0"/>
              </a:spcBef>
              <a:spcAft>
                <a:spcPts val="0"/>
              </a:spcAft>
              <a:buClr>
                <a:srgbClr val="2E2C2D"/>
              </a:buClr>
              <a:buSzPts val="2700"/>
              <a:buChar char="•"/>
            </a:pPr>
            <a:r>
              <a:rPr lang="en-US" sz="2700">
                <a:solidFill>
                  <a:schemeClr val="dk1"/>
                </a:solidFill>
              </a:rPr>
              <a:t>Digitaliza y acelera el trabajo del técnico mediante tecnología accesible (QR + Móvil).</a:t>
            </a:r>
            <a:endParaRPr sz="2700">
              <a:solidFill>
                <a:schemeClr val="dk1"/>
              </a:solidFill>
            </a:endParaRPr>
          </a:p>
          <a:p>
            <a:pPr indent="-400050" lvl="1" marL="914400" rtl="0" algn="just">
              <a:lnSpc>
                <a:spcPct val="140023"/>
              </a:lnSpc>
              <a:spcBef>
                <a:spcPts val="0"/>
              </a:spcBef>
              <a:spcAft>
                <a:spcPts val="0"/>
              </a:spcAft>
              <a:buClr>
                <a:srgbClr val="2E2C2D"/>
              </a:buClr>
              <a:buSzPts val="2700"/>
              <a:buChar char="•"/>
            </a:pPr>
            <a:r>
              <a:rPr lang="en-US" sz="2700">
                <a:solidFill>
                  <a:schemeClr val="dk1"/>
                </a:solidFill>
              </a:rPr>
              <a:t>Aplica de manera integral el perfil de egreso en </a:t>
            </a:r>
            <a:r>
              <a:rPr b="1" lang="en-US" sz="2700">
                <a:solidFill>
                  <a:schemeClr val="dk1"/>
                </a:solidFill>
              </a:rPr>
              <a:t>QA, Desarrollo Web, Gestión de Proyectos e Inglés Técnico</a:t>
            </a:r>
            <a:r>
              <a:rPr lang="en-US" sz="2700">
                <a:solidFill>
                  <a:schemeClr val="dk1"/>
                </a:solidFill>
              </a:rPr>
              <a:t>.</a:t>
            </a:r>
            <a:endParaRPr sz="2700">
              <a:solidFill>
                <a:schemeClr val="dk1"/>
              </a:solidFill>
            </a:endParaRPr>
          </a:p>
          <a:p>
            <a:pPr indent="-400050" lvl="1" marL="914400" rtl="0" algn="just">
              <a:lnSpc>
                <a:spcPct val="140023"/>
              </a:lnSpc>
              <a:spcBef>
                <a:spcPts val="0"/>
              </a:spcBef>
              <a:spcAft>
                <a:spcPts val="0"/>
              </a:spcAft>
              <a:buClr>
                <a:srgbClr val="2E2C2D"/>
              </a:buClr>
              <a:buSzPts val="2700"/>
              <a:buChar char="•"/>
            </a:pPr>
            <a:r>
              <a:rPr lang="en-US" sz="2700">
                <a:solidFill>
                  <a:schemeClr val="dk1"/>
                </a:solidFill>
              </a:rPr>
              <a:t>Garantiza la continuidad operacional de instalaciones críticas como las de la ACHS.</a:t>
            </a:r>
            <a:endParaRPr sz="2700">
              <a:solidFill>
                <a:schemeClr val="dk1"/>
              </a:solidFill>
            </a:endParaRPr>
          </a:p>
          <a:p>
            <a:pPr indent="-284240" lvl="1" marL="547651" marR="0" rtl="0" algn="just">
              <a:lnSpc>
                <a:spcPct val="140023"/>
              </a:lnSpc>
              <a:spcBef>
                <a:spcPts val="0"/>
              </a:spcBef>
              <a:spcAft>
                <a:spcPts val="0"/>
              </a:spcAft>
              <a:buClr>
                <a:srgbClr val="2E2C2D"/>
              </a:buClr>
              <a:buSzPts val="2700"/>
              <a:buFont typeface="Open Sans"/>
              <a:buChar char="•"/>
            </a:pPr>
            <a:r>
              <a:t/>
            </a:r>
            <a:endParaRPr i="1" sz="2700">
              <a:solidFill>
                <a:srgbClr val="2E2C2D"/>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C"/>
        </a:solidFill>
      </p:bgPr>
    </p:bg>
    <p:spTree>
      <p:nvGrpSpPr>
        <p:cNvPr id="291" name="Shape 291"/>
        <p:cNvGrpSpPr/>
        <p:nvPr/>
      </p:nvGrpSpPr>
      <p:grpSpPr>
        <a:xfrm>
          <a:off x="0" y="0"/>
          <a:ext cx="0" cy="0"/>
          <a:chOff x="0" y="0"/>
          <a:chExt cx="0" cy="0"/>
        </a:xfrm>
      </p:grpSpPr>
      <p:grpSp>
        <p:nvGrpSpPr>
          <p:cNvPr id="292" name="Google Shape;292;p16"/>
          <p:cNvGrpSpPr/>
          <p:nvPr/>
        </p:nvGrpSpPr>
        <p:grpSpPr>
          <a:xfrm>
            <a:off x="389005" y="1028700"/>
            <a:ext cx="17229526" cy="8525109"/>
            <a:chOff x="0" y="0"/>
            <a:chExt cx="4537818" cy="2245296"/>
          </a:xfrm>
        </p:grpSpPr>
        <p:sp>
          <p:nvSpPr>
            <p:cNvPr id="293" name="Google Shape;293;p16"/>
            <p:cNvSpPr/>
            <p:nvPr/>
          </p:nvSpPr>
          <p:spPr>
            <a:xfrm>
              <a:off x="0" y="0"/>
              <a:ext cx="4537818" cy="2245296"/>
            </a:xfrm>
            <a:custGeom>
              <a:rect b="b" l="l" r="r" t="t"/>
              <a:pathLst>
                <a:path extrusionOk="0" h="2245296" w="4537818">
                  <a:moveTo>
                    <a:pt x="0" y="0"/>
                  </a:moveTo>
                  <a:lnTo>
                    <a:pt x="4537818" y="0"/>
                  </a:lnTo>
                  <a:lnTo>
                    <a:pt x="4537818" y="2245296"/>
                  </a:lnTo>
                  <a:lnTo>
                    <a:pt x="0" y="2245296"/>
                  </a:lnTo>
                  <a:close/>
                </a:path>
              </a:pathLst>
            </a:custGeom>
            <a:noFill/>
            <a:ln cap="sq" cmpd="sng" w="66675">
              <a:solidFill>
                <a:srgbClr val="000000"/>
              </a:solidFill>
              <a:prstDash val="solid"/>
              <a:miter lim="8000"/>
              <a:headEnd len="sm" w="sm" type="none"/>
              <a:tailEnd len="sm" w="sm" type="none"/>
            </a:ln>
          </p:spPr>
        </p:sp>
        <p:sp>
          <p:nvSpPr>
            <p:cNvPr id="294" name="Google Shape;294;p16"/>
            <p:cNvSpPr txBox="1"/>
            <p:nvPr/>
          </p:nvSpPr>
          <p:spPr>
            <a:xfrm>
              <a:off x="0" y="47625"/>
              <a:ext cx="4537818" cy="2197671"/>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16"/>
          <p:cNvGrpSpPr/>
          <p:nvPr/>
        </p:nvGrpSpPr>
        <p:grpSpPr>
          <a:xfrm>
            <a:off x="-1662754" y="-1649917"/>
            <a:ext cx="3086100" cy="2889115"/>
            <a:chOff x="0" y="0"/>
            <a:chExt cx="596900" cy="558800"/>
          </a:xfrm>
        </p:grpSpPr>
        <p:sp>
          <p:nvSpPr>
            <p:cNvPr id="296" name="Google Shape;296;p16"/>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297" name="Google Shape;297;p16"/>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16"/>
          <p:cNvSpPr txBox="1"/>
          <p:nvPr/>
        </p:nvSpPr>
        <p:spPr>
          <a:xfrm>
            <a:off x="7315871" y="4771509"/>
            <a:ext cx="3375793" cy="1163315"/>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499" u="none" cap="none" strike="noStrike">
                <a:solidFill>
                  <a:srgbClr val="2E2C2D"/>
                </a:solidFill>
                <a:latin typeface="Anton"/>
                <a:ea typeface="Anton"/>
                <a:cs typeface="Anton"/>
                <a:sym typeface="Anton"/>
              </a:rPr>
              <a:t>GRACIAS</a:t>
            </a:r>
            <a:endParaRPr/>
          </a:p>
        </p:txBody>
      </p:sp>
      <p:grpSp>
        <p:nvGrpSpPr>
          <p:cNvPr id="299" name="Google Shape;299;p16"/>
          <p:cNvGrpSpPr/>
          <p:nvPr/>
        </p:nvGrpSpPr>
        <p:grpSpPr>
          <a:xfrm>
            <a:off x="16895199" y="9049953"/>
            <a:ext cx="3086100" cy="2889115"/>
            <a:chOff x="0" y="0"/>
            <a:chExt cx="596900" cy="558800"/>
          </a:xfrm>
        </p:grpSpPr>
        <p:sp>
          <p:nvSpPr>
            <p:cNvPr id="300" name="Google Shape;300;p16"/>
            <p:cNvSpPr/>
            <p:nvPr/>
          </p:nvSpPr>
          <p:spPr>
            <a:xfrm>
              <a:off x="0" y="0"/>
              <a:ext cx="596900" cy="558800"/>
            </a:xfrm>
            <a:custGeom>
              <a:rect b="b" l="l" r="r" t="t"/>
              <a:pathLst>
                <a:path extrusionOk="0" h="558800" w="596900">
                  <a:moveTo>
                    <a:pt x="596900" y="0"/>
                  </a:moveTo>
                  <a:lnTo>
                    <a:pt x="596900" y="304800"/>
                  </a:lnTo>
                  <a:lnTo>
                    <a:pt x="330200" y="558800"/>
                  </a:lnTo>
                  <a:lnTo>
                    <a:pt x="0" y="558800"/>
                  </a:lnTo>
                  <a:lnTo>
                    <a:pt x="0" y="248920"/>
                  </a:lnTo>
                  <a:lnTo>
                    <a:pt x="262890" y="0"/>
                  </a:lnTo>
                  <a:lnTo>
                    <a:pt x="596900" y="0"/>
                  </a:lnTo>
                  <a:close/>
                </a:path>
              </a:pathLst>
            </a:custGeom>
            <a:solidFill>
              <a:srgbClr val="D1CCC8"/>
            </a:solidFill>
            <a:ln>
              <a:noFill/>
            </a:ln>
          </p:spPr>
        </p:sp>
        <p:sp>
          <p:nvSpPr>
            <p:cNvPr id="301" name="Google Shape;301;p16"/>
            <p:cNvSpPr txBox="1"/>
            <p:nvPr/>
          </p:nvSpPr>
          <p:spPr>
            <a:xfrm>
              <a:off x="101600" y="180975"/>
              <a:ext cx="393700" cy="245745"/>
            </a:xfrm>
            <a:prstGeom prst="rect">
              <a:avLst/>
            </a:prstGeom>
            <a:noFill/>
            <a:ln>
              <a:noFill/>
            </a:ln>
          </p:spPr>
          <p:txBody>
            <a:bodyPr anchorCtr="0" anchor="ctr" bIns="50800" lIns="50800" spcFirstLastPara="1" rIns="50800" wrap="square" tIns="50800">
              <a:noAutofit/>
            </a:bodyPr>
            <a:lstStyle/>
            <a:p>
              <a:pPr indent="0" lvl="0" marL="0" marR="0" rtl="0" algn="ctr">
                <a:lnSpc>
                  <a:spcPct val="13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16"/>
          <p:cNvSpPr/>
          <p:nvPr/>
        </p:nvSpPr>
        <p:spPr>
          <a:xfrm>
            <a:off x="7779930" y="2423358"/>
            <a:ext cx="2447676" cy="2447676"/>
          </a:xfrm>
          <a:custGeom>
            <a:rect b="b" l="l" r="r" t="t"/>
            <a:pathLst>
              <a:path extrusionOk="0" h="2447676" w="2447676">
                <a:moveTo>
                  <a:pt x="0" y="0"/>
                </a:moveTo>
                <a:lnTo>
                  <a:pt x="2447675" y="0"/>
                </a:lnTo>
                <a:lnTo>
                  <a:pt x="2447675" y="2447675"/>
                </a:lnTo>
                <a:lnTo>
                  <a:pt x="0" y="2447675"/>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